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4.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c16b823aee4c9f" /><Relationship Type="http://schemas.openxmlformats.org/officeDocument/2006/relationships/extended-properties" Target="/docProps/app.xml" Id="Ref7b93adfdd348b7" /><Relationship Type="http://schemas.openxmlformats.org/officeDocument/2006/relationships/officeDocument" Target="/ppt/presentation.xml" Id="Rb54d741edd214199" /></Relationships>
</file>

<file path=ppt/presentation.xml><?xml version="1.0" encoding="utf-8"?>
<p:presentation xmlns:p="http://schemas.openxmlformats.org/presentationml/2006/main">
  <p:sldMasterIdLst>
    <p:sldMasterId xmlns:r="http://schemas.openxmlformats.org/officeDocument/2006/relationships" id="2147483648" r:id="R4e784055db604cfe"/>
  </p:sldMasterIdLst>
  <p:notesMasterIdLst>
    <p:notesMasterId xmlns:r="http://schemas.openxmlformats.org/officeDocument/2006/relationships" r:id="Ra3c0f741715449d0"/>
  </p:notesMasterIdLst>
  <p:sldIdLst>
    <p:sldId xmlns:r="http://schemas.openxmlformats.org/officeDocument/2006/relationships" id="256" r:id="R6e3b8d0d08e246c7"/>
    <p:sldId xmlns:r="http://schemas.openxmlformats.org/officeDocument/2006/relationships" id="257" r:id="Rbd0474e2a38e4430"/>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e70b63015649c7" /><Relationship Type="http://schemas.openxmlformats.org/officeDocument/2006/relationships/slideMaster" Target="/ppt/slideMasters/slideMaster1.xml" Id="R4e784055db604cfe" /><Relationship Type="http://schemas.openxmlformats.org/officeDocument/2006/relationships/notesMaster" Target="/ppt/notesMasters/notesMaster1.xml" Id="Ra3c0f741715449d0" /><Relationship Type="http://schemas.openxmlformats.org/officeDocument/2006/relationships/presProps" Target="/ppt/presProps.xml" Id="R732d4f612ebe4a49" /><Relationship Type="http://schemas.openxmlformats.org/officeDocument/2006/relationships/tableStyles" Target="/ppt/tableStyles.xml" Id="R3ff71a86c49849e0" /><Relationship Type="http://schemas.openxmlformats.org/officeDocument/2006/relationships/slide" Target="/ppt/slides/slide1.xml" Id="R6e3b8d0d08e246c7" /><Relationship Type="http://schemas.openxmlformats.org/officeDocument/2006/relationships/slide" Target="/ppt/slides/slide2.xml" Id="Rbd0474e2a38e44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d0981c2dca41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23b66ebc804960" /><Relationship Type="http://schemas.openxmlformats.org/officeDocument/2006/relationships/notesMaster" Target="/ppt/notesMasters/notesMaster1.xml" Id="R339e2b5027d646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ce6e225e224e33" /><Relationship Type="http://schemas.openxmlformats.org/officeDocument/2006/relationships/notesMaster" Target="/ppt/notesMasters/notesMaster1.xml" Id="R1c258e61303f4c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mtn customer churn.pptx, original slide 1. Churn reasons: 28,25,20,20,17,17,14 (sum 141). Satisfaction: 26,29,26,31,29 (sum 141). Customer total 484. Revenue retained ₦141,348,000; churned ₦58,000,200. Total and average recalculated from these exact displayed values. 141/484=29.1322%. Recorded revenue of churned customers is not a forecast of lost revenue. Rebuilt charts contain editable data snapshots, not a live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mtn customer churn.pptx, original slide 1. State chart has 35 bars but only 18 category names. Named states and integer bar heights recovered from the original chart: Imo9,Kebbi7,Yobe7,Anambra6,Oyo5,Abia5,Kwara4,Enugu4,Katsina4,Zamfara4,Jigawa4,Cross River3,Bauchi3,Osun3,Delta2,Borno2,Ondo1,Kaduna1. This explicitly labeled subset excludes bars without state names. Top five plan rank and abbreviated labels preserved. Plan amounts are not reconstructable exactly from the graphic. Original gender chart has no printed data labels, so it is not converted into invented exact counts. The design omits that redundant chart and preserves the interpretation limitation. Source has no underlying workbook or Power BI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dab3fa0f024b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74e05745524b0a" /><Relationship Type="http://schemas.openxmlformats.org/officeDocument/2006/relationships/slideLayout" Target="/ppt/slideLayouts/slideLayout1.xml" Id="Rb861751e43f2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61751e43f2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1878e3770e84107"/><Relationship Type="http://schemas.openxmlformats.org/officeDocument/2006/relationships/image" Target="/ppt/media/image.png" Id="R15c438ed79fa4335"/><Relationship Type="http://schemas.openxmlformats.org/officeDocument/2006/relationships/chart" Target="/ppt/slides/charts/chart1.xml" Id="Rf412f279e76a4a10"/><Relationship Type="http://schemas.openxmlformats.org/officeDocument/2006/relationships/chart" Target="/ppt/slides/charts/chart2.xml" Id="Rf83540f440f744ee"/><Relationship Type="http://schemas.openxmlformats.org/officeDocument/2006/relationships/chart" Target="/ppt/slides/charts/chart3.xml" Id="R225a3ac6cc9144b7"/><Relationship Type="http://schemas.openxmlformats.org/officeDocument/2006/relationships/notesSlide" Target="/ppt/notesSlides/notesSlide1.xml" Id="R6e04b4d443d64b94"/><Relationship Id="rIdNav1" Type="http://schemas.openxmlformats.org/officeDocument/2006/relationships/slide" Target="slide1.xml"/><Relationship Id="rIdNav2" Type="http://schemas.openxmlformats.org/officeDocument/2006/relationships/slide" Target="slide2.xm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27bd4fb4a5241c5"/><Relationship Type="http://schemas.openxmlformats.org/officeDocument/2006/relationships/image" Target="/ppt/media/image2.png" Id="Rf0ea67c18fa2484b"/><Relationship Type="http://schemas.openxmlformats.org/officeDocument/2006/relationships/chart" Target="/ppt/slides/charts/chart4.xml" Id="Rf1ef4e0414c64c1c"/><Relationship Type="http://schemas.openxmlformats.org/officeDocument/2006/relationships/notesSlide" Target="/ppt/notesSlides/notesSlide2.xml" Id="Rfb9608a8f9da44c1"/><Relationship Id="rIdNav1" Type="http://schemas.openxmlformats.org/officeDocument/2006/relationships/slide" Target="slide1.xml"/><Relationship Id="rIdNav2" Type="http://schemas.openxmlformats.org/officeDocument/2006/relationships/slide" Target="slide2.xm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Customers</c:v>
          </c:tx>
          <c:spPr>
            <a:solidFill xmlns:a="http://schemas.openxmlformats.org/drawingml/2006/main">
              <a:srgbClr val="FFCB05"/>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17</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17</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20</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20</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25</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28</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s>
          <c:cat>
            <c:strRef>
              <c:f>'Chart Data'!$A$2:$A$8</c:f>
              <c:strCache>
                <c:ptCount val="7"/>
                <c:pt idx="0">
                  <c:v>Relocation</c:v>
                </c:pt>
                <c:pt idx="1">
                  <c:v>Poor customer service</c:v>
                </c:pt>
                <c:pt idx="2">
                  <c:v>Fast data consumption</c:v>
                </c:pt>
                <c:pt idx="3">
                  <c:v>Costly data plans</c:v>
                </c:pt>
                <c:pt idx="4">
                  <c:v>Poor network</c:v>
                </c:pt>
                <c:pt idx="5">
                  <c:v>High call tariffs</c:v>
                </c:pt>
                <c:pt idx="6">
                  <c:v>Better competitor offers</c:v>
                </c:pt>
              </c:strCache>
            </c:strRef>
          </c:cat>
          <c:val>
            <c:numRef>
              <c:f>'Chart Data'!$B$2:$B$8</c:f>
              <c:numCache>
                <c:formatCode>0</c:formatCode>
                <c:ptCount val="7"/>
                <c:pt idx="0">
                  <c:v>14</c:v>
                </c:pt>
                <c:pt idx="1">
                  <c:v>17</c:v>
                </c:pt>
                <c:pt idx="2">
                  <c:v>17</c:v>
                </c:pt>
                <c:pt idx="3">
                  <c:v>20</c:v>
                </c:pt>
                <c:pt idx="4">
                  <c:v>20</c:v>
                </c:pt>
                <c:pt idx="5">
                  <c:v>25</c:v>
                </c:pt>
                <c:pt idx="6">
                  <c:v>28</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0666E"/>
                </a:solidFill>
                <a:latin typeface="Aptos"/>
                <a:ea typeface="Aptos"/>
                <a:cs typeface="Aptos"/>
              </a:defRPr>
            </a:pPr>
          </a:p>
        </c:txPr>
        <c:crossAx val="48672768"/>
      </c:catAx>
      <c:valAx>
        <c:axId val="48672768"/>
        <c:scaling>
          <c:orientation val="minMax"/>
          <c:min val="0"/>
        </c:scaling>
        <c:delete val="0"/>
        <c:axPos val="b"/>
        <c:majorGridlines>
          <c:spPr>
            <a:ln xmlns:a="http://schemas.openxmlformats.org/drawingml/2006/main" w="9525">
              <a:solidFill>
                <a:srgbClr val="E4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0666E"/>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Customers</c:v>
          </c:tx>
          <c:spPr>
            <a:solidFill xmlns:a="http://schemas.openxmlformats.org/drawingml/2006/main">
              <a:srgbClr val="FFCB05"/>
            </a:solidFill>
            <a:ln xmlns:a="http://schemas.openxmlformats.org/drawingml/2006/main" w="0">
              <a:noFill/>
            </a:ln>
          </c:spPr>
          <c:dPt>
            <c:idx val="0"/>
            <c:invertIfNegative val="0"/>
            <c:spPr>
              <a:solidFill xmlns:a="http://schemas.openxmlformats.org/drawingml/2006/main">
                <a:srgbClr val="FFCB05"/>
              </a:solidFill>
            </c:spPr>
          </c:dPt>
          <c:dPt>
            <c:idx val="1"/>
            <c:invertIfNegative val="0"/>
            <c:spPr>
              <a:solidFill xmlns:a="http://schemas.openxmlformats.org/drawingml/2006/main">
                <a:srgbClr val="17191C"/>
              </a:solidFill>
            </c:spPr>
          </c:dPt>
          <c:dLbls>
            <c:dLbl>
              <c:idx val="0"/>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58.00</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141.35</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s>
          <c:cat>
            <c:strRef>
              <c:f>'Chart Data'!$A$2:$A$3</c:f>
              <c:strCache>
                <c:ptCount val="2"/>
                <c:pt idx="0">
                  <c:v>Churned</c:v>
                </c:pt>
                <c:pt idx="1">
                  <c:v>Retained</c:v>
                </c:pt>
              </c:strCache>
            </c:strRef>
          </c:cat>
          <c:val>
            <c:numRef>
              <c:f>'Chart Data'!$B$2:$B$3</c:f>
              <c:numCache>
                <c:formatCode>0.00</c:formatCode>
                <c:ptCount val="2"/>
                <c:pt idx="0">
                  <c:v>58.0002</c:v>
                </c:pt>
                <c:pt idx="1">
                  <c:v>141.348</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0666E"/>
                </a:solidFill>
                <a:latin typeface="Aptos"/>
                <a:ea typeface="Aptos"/>
                <a:cs typeface="Aptos"/>
              </a:defRPr>
            </a:pPr>
          </a:p>
        </c:txPr>
        <c:crossAx val="48672768"/>
      </c:catAx>
      <c:valAx>
        <c:axId val="48672768"/>
        <c:scaling>
          <c:orientation val="minMax"/>
          <c:min val="0"/>
        </c:scaling>
        <c:delete val="0"/>
        <c:axPos val="b"/>
        <c:majorGridlines>
          <c:spPr>
            <a:ln xmlns:a="http://schemas.openxmlformats.org/drawingml/2006/main" w="9525">
              <a:solidFill>
                <a:srgbClr val="E4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0666E"/>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Customers</c:v>
          </c:tx>
          <c:spPr>
            <a:solidFill xmlns:a="http://schemas.openxmlformats.org/drawingml/2006/main">
              <a:srgbClr val="FFCB05"/>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26</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29</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26</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31</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29</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s>
          <c:cat>
            <c:numRef>
              <c:f>'Chart Data'!$A$2:$A$6</c:f>
              <c:numCache>
                <c:formatCode>0</c:formatCode>
                <c:ptCount val="5"/>
                <c:pt idx="0">
                  <c:v>1</c:v>
                </c:pt>
                <c:pt idx="1">
                  <c:v>2</c:v>
                </c:pt>
                <c:pt idx="2">
                  <c:v>3</c:v>
                </c:pt>
                <c:pt idx="3">
                  <c:v>4</c:v>
                </c:pt>
                <c:pt idx="4">
                  <c:v>5</c:v>
                </c:pt>
              </c:numCache>
            </c:numRef>
          </c:cat>
          <c:val>
            <c:numRef>
              <c:f>'Chart Data'!$B$2:$B$6</c:f>
              <c:numCache>
                <c:formatCode>0</c:formatCode>
                <c:ptCount val="5"/>
                <c:pt idx="0">
                  <c:v>26</c:v>
                </c:pt>
                <c:pt idx="1">
                  <c:v>29</c:v>
                </c:pt>
                <c:pt idx="2">
                  <c:v>26</c:v>
                </c:pt>
                <c:pt idx="3">
                  <c:v>31</c:v>
                </c:pt>
                <c:pt idx="4">
                  <c:v>29</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0666E"/>
                </a:solidFill>
                <a:latin typeface="Aptos"/>
                <a:ea typeface="Aptos"/>
                <a:cs typeface="Aptos"/>
              </a:defRPr>
            </a:pPr>
          </a:p>
        </c:txPr>
        <c:crossAx val="48672768"/>
      </c:catAx>
      <c:valAx>
        <c:axId val="48672768"/>
        <c:scaling>
          <c:orientation val="minMax"/>
          <c:max val="40"/>
          <c:min val="0"/>
        </c:scaling>
        <c:delete val="0"/>
        <c:axPos val="l"/>
        <c:majorGridlines>
          <c:spPr>
            <a:ln xmlns:a="http://schemas.openxmlformats.org/drawingml/2006/main" w="9525">
              <a:solidFill>
                <a:srgbClr val="E4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0666E"/>
                </a:solidFill>
                <a:latin typeface="Aptos"/>
                <a:ea typeface="Aptos"/>
                <a:cs typeface="Aptos"/>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Customers</c:v>
          </c:tx>
          <c:spPr>
            <a:solidFill xmlns:a="http://schemas.openxmlformats.org/drawingml/2006/main">
              <a:srgbClr val="FFCB05"/>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1</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2</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3</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3</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3</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4</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2"/>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5</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3"/>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5</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4"/>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6</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5"/>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7</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6"/>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7</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
              <c:idx val="17"/>
              <c:tx>
                <c:rich>
                  <a:bodyPr xmlns:a="http://schemas.openxmlformats.org/drawingml/2006/main"/>
                  <a:lstStyle xmlns:a="http://schemas.openxmlformats.org/drawingml/2006/main"/>
                  <a:p xmlns:a="http://schemas.openxmlformats.org/drawingml/2006/main">
                    <a:r>
                      <a:rPr sz="1575" b="1">
                        <a:solidFill>
                          <a:srgbClr val="17191C"/>
                        </a:solidFill>
                        <a:latin typeface="Aptos"/>
                        <a:ea typeface="Aptos"/>
                        <a:cs typeface="Aptos"/>
                      </a:rPr>
                      <a:t>9</a:t>
                    </a:r>
                  </a:p>
                </c:rich>
              </c:tx>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showLegendKey val="0"/>
              <c:showVal val="0"/>
              <c:showCatName val="0"/>
              <c:showSerName val="0"/>
              <c:showPercent val="0"/>
              <c:showBubbleSize val="0"/>
            </c:dLbl>
          </c:dLbls>
          <c:cat>
            <c:strRef>
              <c:f>'Chart Data'!$A$2:$A$19</c:f>
              <c:strCache>
                <c:ptCount val="18"/>
                <c:pt idx="0">
                  <c:v>Kaduna</c:v>
                </c:pt>
                <c:pt idx="1">
                  <c:v>Ondo</c:v>
                </c:pt>
                <c:pt idx="2">
                  <c:v>Borno</c:v>
                </c:pt>
                <c:pt idx="3">
                  <c:v>Delta</c:v>
                </c:pt>
                <c:pt idx="4">
                  <c:v>Osun</c:v>
                </c:pt>
                <c:pt idx="5">
                  <c:v>Bauchi</c:v>
                </c:pt>
                <c:pt idx="6">
                  <c:v>Cross River</c:v>
                </c:pt>
                <c:pt idx="7">
                  <c:v>Jigawa</c:v>
                </c:pt>
                <c:pt idx="8">
                  <c:v>Zamfara</c:v>
                </c:pt>
                <c:pt idx="9">
                  <c:v>Katsina</c:v>
                </c:pt>
                <c:pt idx="10">
                  <c:v>Enugu</c:v>
                </c:pt>
                <c:pt idx="11">
                  <c:v>Kwara</c:v>
                </c:pt>
                <c:pt idx="12">
                  <c:v>Abia</c:v>
                </c:pt>
                <c:pt idx="13">
                  <c:v>Oyo</c:v>
                </c:pt>
                <c:pt idx="14">
                  <c:v>Anambra</c:v>
                </c:pt>
                <c:pt idx="15">
                  <c:v>Yobe</c:v>
                </c:pt>
                <c:pt idx="16">
                  <c:v>Kebbi</c:v>
                </c:pt>
                <c:pt idx="17">
                  <c:v>Imo</c:v>
                </c:pt>
              </c:strCache>
            </c:strRef>
          </c:cat>
          <c:val>
            <c:numRef>
              <c:f>'Chart Data'!$B$2:$B$19</c:f>
              <c:numCache>
                <c:formatCode>0</c:formatCode>
                <c:ptCount val="18"/>
                <c:pt idx="0">
                  <c:v>1</c:v>
                </c:pt>
                <c:pt idx="1">
                  <c:v>1</c:v>
                </c:pt>
                <c:pt idx="2">
                  <c:v>2</c:v>
                </c:pt>
                <c:pt idx="3">
                  <c:v>2</c:v>
                </c:pt>
                <c:pt idx="4">
                  <c:v>3</c:v>
                </c:pt>
                <c:pt idx="5">
                  <c:v>3</c:v>
                </c:pt>
                <c:pt idx="6">
                  <c:v>3</c:v>
                </c:pt>
                <c:pt idx="7">
                  <c:v>4</c:v>
                </c:pt>
                <c:pt idx="8">
                  <c:v>4</c:v>
                </c:pt>
                <c:pt idx="9">
                  <c:v>4</c:v>
                </c:pt>
                <c:pt idx="10">
                  <c:v>4</c:v>
                </c:pt>
                <c:pt idx="11">
                  <c:v>4</c:v>
                </c:pt>
                <c:pt idx="12">
                  <c:v>5</c:v>
                </c:pt>
                <c:pt idx="13">
                  <c:v>5</c:v>
                </c:pt>
                <c:pt idx="14">
                  <c:v>6</c:v>
                </c:pt>
                <c:pt idx="15">
                  <c:v>7</c:v>
                </c:pt>
                <c:pt idx="16">
                  <c:v>7</c:v>
                </c:pt>
                <c:pt idx="17">
                  <c:v>9</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191C"/>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0666E"/>
                </a:solidFill>
                <a:latin typeface="Aptos"/>
                <a:ea typeface="Aptos"/>
                <a:cs typeface="Aptos"/>
              </a:defRPr>
            </a:pPr>
          </a:p>
        </c:txPr>
        <c:crossAx val="48672768"/>
      </c:catAx>
      <c:valAx>
        <c:axId val="48672768"/>
        <c:scaling>
          <c:orientation val="minMax"/>
          <c:min val="0"/>
        </c:scaling>
        <c:delete val="0"/>
        <c:axPos val="b"/>
        <c:majorGridlines>
          <c:spPr>
            <a:ln xmlns:a="http://schemas.openxmlformats.org/drawingml/2006/main" w="9525">
              <a:solidFill>
                <a:srgbClr val="E4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0666E"/>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5F6"/>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2042FD8-322A-4E80-82EC-10F9AF2FCA9B}"/>
              </a:ext>
            </a:extLst>
          </p:cNvPr>
          <p:cNvSpPr>
            <a:spLocks xmlns:a="http://schemas.openxmlformats.org/drawingml/2006/main" noGrp="1"/>
          </p:cNvSpPr>
          <p:nvPr/>
        </p:nvSpPr>
        <p:spPr>
          <a:xfrm xmlns:a="http://schemas.openxmlformats.org/drawingml/2006/main">
            <a:off x="0" y="0"/>
            <a:ext cx="15240000" cy="952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7E4DF3-231A-4AC0-B3D6-B5BF78A99E84}"/>
              </a:ext>
            </a:extLst>
          </p:cNvPr>
          <p:cNvSpPr>
            <a:spLocks xmlns:a="http://schemas.openxmlformats.org/drawingml/2006/main" noGrp="1"/>
          </p:cNvSpPr>
          <p:nvPr/>
        </p:nvSpPr>
        <p:spPr>
          <a:xfrm xmlns:a="http://schemas.openxmlformats.org/drawingml/2006/main">
            <a:off x="381000" y="361950"/>
            <a:ext cx="971550" cy="590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EF7E8F-D2C4-4D9B-92D6-B90DB33A6DC7}"/>
              </a:ext>
            </a:extLst>
          </p:cNvPr>
          <p:cNvSpPr>
            <a:spLocks xmlns:a="http://schemas.openxmlformats.org/drawingml/2006/main" noGrp="1"/>
          </p:cNvSpPr>
          <p:nvPr/>
        </p:nvSpPr>
        <p:spPr>
          <a:xfrm xmlns:a="http://schemas.openxmlformats.org/drawingml/2006/main">
            <a:off x="447675" y="447675"/>
            <a:ext cx="933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191C"/>
                </a:solidFill>
                <a:latin typeface="Aptos"/>
                <a:ea typeface="Aptos"/>
                <a:cs typeface="Aptos"/>
              </a:defRPr>
            </a:pPr>
            <a:r>
              <a:rPr sz="2175" b="1">
                <a:solidFill>
                  <a:srgbClr val="17191C"/>
                </a:solidFill>
                <a:latin typeface="Aptos"/>
                <a:ea typeface="Aptos"/>
                <a:cs typeface="Aptos"/>
              </a:rPr>
              <a:t>MTN</a:t>
            </a:r>
          </a:p>
        </p:txBody>
      </p:sp>
      <p:sp>
        <p:nvSpPr>
          <p:cNvPr id="4" name="">
            <a:extLst xmlns:a="http://schemas.openxmlformats.org/drawingml/2006/main">
              <a:ext uri="{FF2B5EF4-FFF2-40B4-BE49-F238E27FC236}">
                <a16:creationId xmlns:a16="http://schemas.microsoft.com/office/drawing/2014/main" id="{299A8DD4-5D59-4ACF-B436-64C843A734B7}"/>
              </a:ext>
            </a:extLst>
          </p:cNvPr>
          <p:cNvSpPr>
            <a:spLocks xmlns:a="http://schemas.openxmlformats.org/drawingml/2006/main" noGrp="1"/>
          </p:cNvSpPr>
          <p:nvPr/>
        </p:nvSpPr>
        <p:spPr>
          <a:xfrm xmlns:a="http://schemas.openxmlformats.org/drawingml/2006/main">
            <a:off x="1581150" y="3333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C"/>
                </a:solidFill>
                <a:latin typeface="Aptos"/>
                <a:ea typeface="Aptos"/>
                <a:cs typeface="Aptos"/>
              </a:defRPr>
            </a:pPr>
            <a:r>
              <a:rPr sz="2850" b="1">
                <a:solidFill>
                  <a:srgbClr val="17191C"/>
                </a:solidFill>
                <a:latin typeface="Aptos"/>
                <a:ea typeface="Aptos"/>
                <a:cs typeface="Aptos"/>
              </a:rPr>
              <a:t>Customer churn overview</a:t>
            </a:r>
          </a:p>
        </p:txBody>
      </p:sp>
      <p:sp>
        <p:nvSpPr>
          <p:cNvPr id="5" name="">
            <a:extLst xmlns:a="http://schemas.openxmlformats.org/drawingml/2006/main">
              <a:ext uri="{FF2B5EF4-FFF2-40B4-BE49-F238E27FC236}">
                <a16:creationId xmlns:a16="http://schemas.microsoft.com/office/drawing/2014/main" id="{C7FA6344-B8C6-4F4C-8C84-694C4D620B3C}"/>
              </a:ext>
            </a:extLst>
          </p:cNvPr>
          <p:cNvSpPr>
            <a:spLocks xmlns:a="http://schemas.openxmlformats.org/drawingml/2006/main" noGrp="1"/>
          </p:cNvSpPr>
          <p:nvPr/>
        </p:nvSpPr>
        <p:spPr>
          <a:xfrm xmlns:a="http://schemas.openxmlformats.org/drawingml/2006/main">
            <a:off x="1600200"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66E"/>
                </a:solidFill>
                <a:latin typeface="Aptos"/>
                <a:ea typeface="Aptos"/>
                <a:cs typeface="Aptos"/>
              </a:defRPr>
            </a:pPr>
            <a:r>
              <a:rPr sz="1500" b="0">
                <a:solidFill>
                  <a:srgbClr val="60666E"/>
                </a:solidFill>
                <a:latin typeface="Aptos"/>
                <a:ea typeface="Aptos"/>
                <a:cs typeface="Aptos"/>
              </a:rPr>
              <a:t>Nigeria   /   Q1 2026   /   Customer churn analysis</a:t>
            </a:r>
          </a:p>
        </p:txBody>
      </p:sp>
      <p:sp>
        <p:nvSpPr>
          <p:cNvPr id="6" name="">
            <ns0:hlinkClick xmlns:ns0="http://schemas.openxmlformats.org/drawingml/2006/main" xmlns:ns1="http://schemas.openxmlformats.org/officeDocument/2006/relationships" ns1:id="rIdNav1" action="ppaction://hlinksldjump" tooltip="Go to Overview"/>
            <a:extLst xmlns:a="http://schemas.openxmlformats.org/drawingml/2006/main">
              <a:ext uri="{FF2B5EF4-FFF2-40B4-BE49-F238E27FC236}">
                <a16:creationId xmlns:a16="http://schemas.microsoft.com/office/drawing/2014/main" id="{CBE7A7CE-7BB9-4A14-B90B-3ABD422E3712}"/>
              </a:ext>
            </a:extLst>
          </p:cNvPr>
          <p:cNvSpPr>
            <a:spLocks xmlns:a="http://schemas.openxmlformats.org/drawingml/2006/main" noGrp="1"/>
          </p:cNvSpPr>
          <p:nvPr/>
        </p:nvSpPr>
        <p:spPr>
          <a:xfrm xmlns:a="http://schemas.openxmlformats.org/drawingml/2006/main">
            <a:off x="11049000" y="533400"/>
            <a:ext cx="1524000" cy="447675"/>
          </a:xfrm>
          <a:prstGeom xmlns:a="http://schemas.openxmlformats.org/drawingml/2006/main" prst="rect">
            <a:avLst/>
          </a:prstGeom>
          <a:solidFill xmlns:a="http://schemas.openxmlformats.org/drawingml/2006/main">
            <a:srgbClr val="FFCB05"/>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191C"/>
                </a:solidFill>
                <a:latin typeface="Aptos"/>
                <a:ea typeface="Aptos"/>
                <a:cs typeface="Aptos"/>
              </a:defRPr>
            </a:pPr>
            <a:r>
              <a:rPr sz="1500" b="1">
                <a:solidFill>
                  <a:srgbClr val="17191C"/>
                </a:solidFill>
                <a:latin typeface="Aptos"/>
                <a:ea typeface="Aptos"/>
                <a:cs typeface="Aptos"/>
                <a:hlinkClick xmlns:ns0="http://schemas.openxmlformats.org/officeDocument/2006/relationships" ns0:id="rIdNav1" action="ppaction://hlinksldjump" tooltip="Go to Overview"/>
              </a:rPr>
              <a:t>Overview</a:t>
            </a:r>
          </a:p>
        </p:txBody>
      </p:sp>
      <p:sp>
        <p:nvSpPr>
          <p:cNvPr id="7" name="">
            <ns0:hlinkClick xmlns:ns0="http://schemas.openxmlformats.org/drawingml/2006/main" xmlns:ns1="http://schemas.openxmlformats.org/officeDocument/2006/relationships" ns1:id="rIdNav2" action="ppaction://hlinksldjump" tooltip="Go to Customer detail"/>
            <a:extLst xmlns:a="http://schemas.openxmlformats.org/drawingml/2006/main">
              <a:ext uri="{FF2B5EF4-FFF2-40B4-BE49-F238E27FC236}">
                <a16:creationId xmlns:a16="http://schemas.microsoft.com/office/drawing/2014/main" id="{420BAD64-C086-4431-83A6-C98EA5A78AD6}"/>
              </a:ext>
            </a:extLst>
          </p:cNvPr>
          <p:cNvSpPr>
            <a:spLocks xmlns:a="http://schemas.openxmlformats.org/drawingml/2006/main" noGrp="1"/>
          </p:cNvSpPr>
          <p:nvPr/>
        </p:nvSpPr>
        <p:spPr>
          <a:xfrm xmlns:a="http://schemas.openxmlformats.org/drawingml/2006/main">
            <a:off x="12687300" y="533400"/>
            <a:ext cx="2171700" cy="447675"/>
          </a:xfrm>
          <a:prstGeom xmlns:a="http://schemas.openxmlformats.org/drawingml/2006/main" prst="rect">
            <a:avLst/>
          </a:prstGeom>
          <a:solidFill xmlns:a="http://schemas.openxmlformats.org/drawingml/2006/main">
            <a:srgbClr val="17191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hlinkClick xmlns:ns1="http://schemas.openxmlformats.org/officeDocument/2006/relationships" ns1:id="rIdNav2" action="ppaction://hlinksldjump" tooltip="Go to Customer detail"/>
              </a:rPr>
              <a:t>Customer detail</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15c438ed79fa4335"/>
          <a:srcRect xmlns:a="http://schemas.openxmlformats.org/drawingml/2006/main" l="0" t="0" r="0" b="0"/>
          <a:stretch xmlns:a="http://schemas.openxmlformats.org/drawingml/2006/main">
            <a:fillRect l="0" t="0" r="0" b="0"/>
          </a:stretch>
        </p:blipFill>
        <p:spPr>
          <a:xfrm xmlns:a="http://schemas.openxmlformats.org/drawingml/2006/main">
            <a:off x="381000" y="8848725"/>
            <a:ext cx="590550" cy="590550"/>
          </a:xfrm>
          <a:prstGeom xmlns:a="http://schemas.openxmlformats.org/drawingml/2006/main" prst="ellipse">
            <a:avLst/>
          </a:prstGeom>
        </p:spPr>
      </p:pic>
      <p:sp>
        <p:nvSpPr>
          <p:cNvPr id="9" name="">
            <a:extLst xmlns:a="http://schemas.openxmlformats.org/drawingml/2006/main">
              <a:ext uri="{FF2B5EF4-FFF2-40B4-BE49-F238E27FC236}">
                <a16:creationId xmlns:a16="http://schemas.microsoft.com/office/drawing/2014/main" id="{18E41896-44FB-4ACB-944D-E246299C0DE9}"/>
              </a:ext>
            </a:extLst>
          </p:cNvPr>
          <p:cNvSpPr>
            <a:spLocks xmlns:a="http://schemas.openxmlformats.org/drawingml/2006/main" noGrp="1"/>
          </p:cNvSpPr>
          <p:nvPr/>
        </p:nvSpPr>
        <p:spPr>
          <a:xfrm xmlns:a="http://schemas.openxmlformats.org/drawingml/2006/main">
            <a:off x="1104900" y="8886825"/>
            <a:ext cx="619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191C"/>
                </a:solidFill>
                <a:latin typeface="Aptos"/>
                <a:ea typeface="Aptos"/>
                <a:cs typeface="Aptos"/>
              </a:defRPr>
            </a:pPr>
            <a:r>
              <a:rPr sz="1500" b="1">
                <a:solidFill>
                  <a:srgbClr val="17191C"/>
                </a:solidFill>
                <a:latin typeface="Aptos"/>
                <a:ea typeface="Aptos"/>
                <a:cs typeface="Aptos"/>
              </a:rPr>
              <a:t>Ojo Jonathan Felix</a:t>
            </a:r>
          </a:p>
        </p:txBody>
      </p:sp>
      <p:sp>
        <p:nvSpPr>
          <p:cNvPr id="10" name="">
            <a:extLst xmlns:a="http://schemas.openxmlformats.org/drawingml/2006/main">
              <a:ext uri="{FF2B5EF4-FFF2-40B4-BE49-F238E27FC236}">
                <a16:creationId xmlns:a16="http://schemas.microsoft.com/office/drawing/2014/main" id="{C9357A5C-EBC3-4E39-831B-18501B743BD8}"/>
              </a:ext>
            </a:extLst>
          </p:cNvPr>
          <p:cNvSpPr>
            <a:spLocks xmlns:a="http://schemas.openxmlformats.org/drawingml/2006/main" noGrp="1"/>
          </p:cNvSpPr>
          <p:nvPr/>
        </p:nvSpPr>
        <p:spPr>
          <a:xfrm xmlns:a="http://schemas.openxmlformats.org/drawingml/2006/main">
            <a:off x="1104900" y="91630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0666E"/>
                </a:solidFill>
                <a:latin typeface="Aptos"/>
                <a:ea typeface="Aptos"/>
                <a:cs typeface="Aptos"/>
              </a:defRPr>
            </a:pPr>
            <a:r>
              <a:rPr sz="1200" b="0">
                <a:solidFill>
                  <a:srgbClr val="60666E"/>
                </a:solidFill>
                <a:latin typeface="Aptos"/>
                <a:ea typeface="Aptos"/>
                <a:cs typeface="Aptos"/>
              </a:rPr>
              <a:t>Data Analyst</a:t>
            </a:r>
          </a:p>
        </p:txBody>
      </p:sp>
      <p:sp>
        <p:nvSpPr>
          <p:cNvPr id="11" name="">
            <a:extLst xmlns:a="http://schemas.openxmlformats.org/drawingml/2006/main">
              <a:ext uri="{FF2B5EF4-FFF2-40B4-BE49-F238E27FC236}">
                <a16:creationId xmlns:a16="http://schemas.microsoft.com/office/drawing/2014/main" id="{EE06AF93-6973-4230-BE14-AAE258C0E814}"/>
              </a:ext>
            </a:extLst>
          </p:cNvPr>
          <p:cNvSpPr>
            <a:spLocks xmlns:a="http://schemas.openxmlformats.org/drawingml/2006/main" noGrp="1"/>
          </p:cNvSpPr>
          <p:nvPr/>
        </p:nvSpPr>
        <p:spPr>
          <a:xfrm xmlns:a="http://schemas.openxmlformats.org/drawingml/2006/main">
            <a:off x="9620250" y="9124950"/>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0666E"/>
                </a:solidFill>
                <a:latin typeface="Aptos"/>
                <a:ea typeface="Aptos"/>
                <a:cs typeface="Aptos"/>
              </a:defRPr>
            </a:pPr>
            <a:r>
              <a:rPr sz="1200" b="0">
                <a:solidFill>
                  <a:srgbClr val="60666E"/>
                </a:solidFill>
                <a:latin typeface="Aptos"/>
                <a:ea typeface="Aptos"/>
                <a:cs typeface="Aptos"/>
              </a:rPr>
              <a:t>Source: supplied MTN customer churn dashboard</a:t>
            </a:r>
          </a:p>
        </p:txBody>
      </p:sp>
      <p:sp>
        <p:nvSpPr>
          <p:cNvPr id="12" name="">
            <a:extLst xmlns:a="http://schemas.openxmlformats.org/drawingml/2006/main">
              <a:ext uri="{FF2B5EF4-FFF2-40B4-BE49-F238E27FC236}">
                <a16:creationId xmlns:a16="http://schemas.microsoft.com/office/drawing/2014/main" id="{872267C6-CCAE-4C16-87A1-089D35ECC8E7}"/>
              </a:ext>
            </a:extLst>
          </p:cNvPr>
          <p:cNvSpPr>
            <a:spLocks xmlns:a="http://schemas.openxmlformats.org/drawingml/2006/main" noGrp="1"/>
          </p:cNvSpPr>
          <p:nvPr/>
        </p:nvSpPr>
        <p:spPr>
          <a:xfrm xmlns:a="http://schemas.openxmlformats.org/drawingml/2006/main">
            <a:off x="381000"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1AF5AA5-8EB9-4619-A7E7-63DA6D6F8E55}"/>
              </a:ext>
            </a:extLst>
          </p:cNvPr>
          <p:cNvSpPr>
            <a:spLocks xmlns:a="http://schemas.openxmlformats.org/drawingml/2006/main" noGrp="1"/>
          </p:cNvSpPr>
          <p:nvPr/>
        </p:nvSpPr>
        <p:spPr>
          <a:xfrm xmlns:a="http://schemas.openxmlformats.org/drawingml/2006/main">
            <a:off x="590550"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TOTAL CUSTOMERS</a:t>
            </a:r>
          </a:p>
        </p:txBody>
      </p:sp>
      <p:sp>
        <p:nvSpPr>
          <p:cNvPr id="14" name="">
            <a:extLst xmlns:a="http://schemas.openxmlformats.org/drawingml/2006/main">
              <a:ext uri="{FF2B5EF4-FFF2-40B4-BE49-F238E27FC236}">
                <a16:creationId xmlns:a16="http://schemas.microsoft.com/office/drawing/2014/main" id="{F048F107-1BD8-4CF2-B237-63E0D42BB5AE}"/>
              </a:ext>
            </a:extLst>
          </p:cNvPr>
          <p:cNvSpPr>
            <a:spLocks xmlns:a="http://schemas.openxmlformats.org/drawingml/2006/main" noGrp="1"/>
          </p:cNvSpPr>
          <p:nvPr/>
        </p:nvSpPr>
        <p:spPr>
          <a:xfrm xmlns:a="http://schemas.openxmlformats.org/drawingml/2006/main">
            <a:off x="590550"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484</a:t>
            </a:r>
          </a:p>
        </p:txBody>
      </p:sp>
      <p:sp>
        <p:nvSpPr>
          <p:cNvPr id="15" name="">
            <a:extLst xmlns:a="http://schemas.openxmlformats.org/drawingml/2006/main">
              <a:ext uri="{FF2B5EF4-FFF2-40B4-BE49-F238E27FC236}">
                <a16:creationId xmlns:a16="http://schemas.microsoft.com/office/drawing/2014/main" id="{8BDD24AB-5D14-4DB9-B4CA-33EF89D1BAFC}"/>
              </a:ext>
            </a:extLst>
          </p:cNvPr>
          <p:cNvSpPr>
            <a:spLocks xmlns:a="http://schemas.openxmlformats.org/drawingml/2006/main" noGrp="1"/>
          </p:cNvSpPr>
          <p:nvPr/>
        </p:nvSpPr>
        <p:spPr>
          <a:xfrm xmlns:a="http://schemas.openxmlformats.org/drawingml/2006/main">
            <a:off x="590550"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Unique customers</a:t>
            </a:r>
          </a:p>
        </p:txBody>
      </p:sp>
      <p:sp>
        <p:nvSpPr>
          <p:cNvPr id="16" name="">
            <a:extLst xmlns:a="http://schemas.openxmlformats.org/drawingml/2006/main">
              <a:ext uri="{FF2B5EF4-FFF2-40B4-BE49-F238E27FC236}">
                <a16:creationId xmlns:a16="http://schemas.microsoft.com/office/drawing/2014/main" id="{DE8FFCEE-615D-4500-9246-CCDACA2EC897}"/>
              </a:ext>
            </a:extLst>
          </p:cNvPr>
          <p:cNvSpPr>
            <a:spLocks xmlns:a="http://schemas.openxmlformats.org/drawingml/2006/main" noGrp="1"/>
          </p:cNvSpPr>
          <p:nvPr/>
        </p:nvSpPr>
        <p:spPr>
          <a:xfrm xmlns:a="http://schemas.openxmlformats.org/drawingml/2006/main">
            <a:off x="4048125" y="1400175"/>
            <a:ext cx="3476625" cy="12001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E4392E-F369-4BF4-876A-01D9CBAB7955}"/>
              </a:ext>
            </a:extLst>
          </p:cNvPr>
          <p:cNvSpPr>
            <a:spLocks xmlns:a="http://schemas.openxmlformats.org/drawingml/2006/main" noGrp="1"/>
          </p:cNvSpPr>
          <p:nvPr/>
        </p:nvSpPr>
        <p:spPr>
          <a:xfrm xmlns:a="http://schemas.openxmlformats.org/drawingml/2006/main">
            <a:off x="4257675"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CHURN RATE</a:t>
            </a:r>
          </a:p>
        </p:txBody>
      </p:sp>
      <p:sp>
        <p:nvSpPr>
          <p:cNvPr id="18" name="">
            <a:extLst xmlns:a="http://schemas.openxmlformats.org/drawingml/2006/main">
              <a:ext uri="{FF2B5EF4-FFF2-40B4-BE49-F238E27FC236}">
                <a16:creationId xmlns:a16="http://schemas.microsoft.com/office/drawing/2014/main" id="{355E70F1-DAE1-4759-8BAE-36D0B63A0BEE}"/>
              </a:ext>
            </a:extLst>
          </p:cNvPr>
          <p:cNvSpPr>
            <a:spLocks xmlns:a="http://schemas.openxmlformats.org/drawingml/2006/main" noGrp="1"/>
          </p:cNvSpPr>
          <p:nvPr/>
        </p:nvSpPr>
        <p:spPr>
          <a:xfrm xmlns:a="http://schemas.openxmlformats.org/drawingml/2006/main">
            <a:off x="4257675"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29.13%</a:t>
            </a:r>
          </a:p>
        </p:txBody>
      </p:sp>
      <p:sp>
        <p:nvSpPr>
          <p:cNvPr id="19" name="">
            <a:extLst xmlns:a="http://schemas.openxmlformats.org/drawingml/2006/main">
              <a:ext uri="{FF2B5EF4-FFF2-40B4-BE49-F238E27FC236}">
                <a16:creationId xmlns:a16="http://schemas.microsoft.com/office/drawing/2014/main" id="{D819D2F8-8F16-4EE3-9282-D7A40F1E4C1C}"/>
              </a:ext>
            </a:extLst>
          </p:cNvPr>
          <p:cNvSpPr>
            <a:spLocks xmlns:a="http://schemas.openxmlformats.org/drawingml/2006/main" noGrp="1"/>
          </p:cNvSpPr>
          <p:nvPr/>
        </p:nvSpPr>
        <p:spPr>
          <a:xfrm xmlns:a="http://schemas.openxmlformats.org/drawingml/2006/main">
            <a:off x="4257675"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141 churned customers</a:t>
            </a:r>
          </a:p>
        </p:txBody>
      </p:sp>
      <p:sp>
        <p:nvSpPr>
          <p:cNvPr id="20" name="">
            <a:extLst xmlns:a="http://schemas.openxmlformats.org/drawingml/2006/main">
              <a:ext uri="{FF2B5EF4-FFF2-40B4-BE49-F238E27FC236}">
                <a16:creationId xmlns:a16="http://schemas.microsoft.com/office/drawing/2014/main" id="{8045A61A-9853-4C04-9548-A7770DFFCA97}"/>
              </a:ext>
            </a:extLst>
          </p:cNvPr>
          <p:cNvSpPr>
            <a:spLocks xmlns:a="http://schemas.openxmlformats.org/drawingml/2006/main" noGrp="1"/>
          </p:cNvSpPr>
          <p:nvPr/>
        </p:nvSpPr>
        <p:spPr>
          <a:xfrm xmlns:a="http://schemas.openxmlformats.org/drawingml/2006/main">
            <a:off x="7715250"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518FFDE-72D3-403E-AC06-080DA091C7D8}"/>
              </a:ext>
            </a:extLst>
          </p:cNvPr>
          <p:cNvSpPr>
            <a:spLocks xmlns:a="http://schemas.openxmlformats.org/drawingml/2006/main" noGrp="1"/>
          </p:cNvSpPr>
          <p:nvPr/>
        </p:nvSpPr>
        <p:spPr>
          <a:xfrm xmlns:a="http://schemas.openxmlformats.org/drawingml/2006/main">
            <a:off x="7924800"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TOTAL REVENUE</a:t>
            </a:r>
          </a:p>
        </p:txBody>
      </p:sp>
      <p:sp>
        <p:nvSpPr>
          <p:cNvPr id="22" name="">
            <a:extLst xmlns:a="http://schemas.openxmlformats.org/drawingml/2006/main">
              <a:ext uri="{FF2B5EF4-FFF2-40B4-BE49-F238E27FC236}">
                <a16:creationId xmlns:a16="http://schemas.microsoft.com/office/drawing/2014/main" id="{A54E5FC5-424F-4DCA-9D76-365CCE84D283}"/>
              </a:ext>
            </a:extLst>
          </p:cNvPr>
          <p:cNvSpPr>
            <a:spLocks xmlns:a="http://schemas.openxmlformats.org/drawingml/2006/main" noGrp="1"/>
          </p:cNvSpPr>
          <p:nvPr/>
        </p:nvSpPr>
        <p:spPr>
          <a:xfrm xmlns:a="http://schemas.openxmlformats.org/drawingml/2006/main">
            <a:off x="7924800"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₦199.35M</a:t>
            </a:r>
          </a:p>
        </p:txBody>
      </p:sp>
      <p:sp>
        <p:nvSpPr>
          <p:cNvPr id="23" name="">
            <a:extLst xmlns:a="http://schemas.openxmlformats.org/drawingml/2006/main">
              <a:ext uri="{FF2B5EF4-FFF2-40B4-BE49-F238E27FC236}">
                <a16:creationId xmlns:a16="http://schemas.microsoft.com/office/drawing/2014/main" id="{3993B3E9-DFEF-421E-8E82-35127B2B67CF}"/>
              </a:ext>
            </a:extLst>
          </p:cNvPr>
          <p:cNvSpPr>
            <a:spLocks xmlns:a="http://schemas.openxmlformats.org/drawingml/2006/main" noGrp="1"/>
          </p:cNvSpPr>
          <p:nvPr/>
        </p:nvSpPr>
        <p:spPr>
          <a:xfrm xmlns:a="http://schemas.openxmlformats.org/drawingml/2006/main">
            <a:off x="7924800"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₦199,348,200 in the source chart</a:t>
            </a:r>
          </a:p>
        </p:txBody>
      </p:sp>
      <p:sp>
        <p:nvSpPr>
          <p:cNvPr id="24" name="">
            <a:extLst xmlns:a="http://schemas.openxmlformats.org/drawingml/2006/main">
              <a:ext uri="{FF2B5EF4-FFF2-40B4-BE49-F238E27FC236}">
                <a16:creationId xmlns:a16="http://schemas.microsoft.com/office/drawing/2014/main" id="{14094EA9-7A82-4142-BF6F-139C65343608}"/>
              </a:ext>
            </a:extLst>
          </p:cNvPr>
          <p:cNvSpPr>
            <a:spLocks xmlns:a="http://schemas.openxmlformats.org/drawingml/2006/main" noGrp="1"/>
          </p:cNvSpPr>
          <p:nvPr/>
        </p:nvSpPr>
        <p:spPr>
          <a:xfrm xmlns:a="http://schemas.openxmlformats.org/drawingml/2006/main">
            <a:off x="11382375"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F1E6EDF-AF4B-4173-A608-9F94D2506538}"/>
              </a:ext>
            </a:extLst>
          </p:cNvPr>
          <p:cNvSpPr>
            <a:spLocks xmlns:a="http://schemas.openxmlformats.org/drawingml/2006/main" noGrp="1"/>
          </p:cNvSpPr>
          <p:nvPr/>
        </p:nvSpPr>
        <p:spPr>
          <a:xfrm xmlns:a="http://schemas.openxmlformats.org/drawingml/2006/main">
            <a:off x="11591925"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AVG. REVENUE / CUSTOMER</a:t>
            </a:r>
          </a:p>
        </p:txBody>
      </p:sp>
      <p:sp>
        <p:nvSpPr>
          <p:cNvPr id="26" name="">
            <a:extLst xmlns:a="http://schemas.openxmlformats.org/drawingml/2006/main">
              <a:ext uri="{FF2B5EF4-FFF2-40B4-BE49-F238E27FC236}">
                <a16:creationId xmlns:a16="http://schemas.microsoft.com/office/drawing/2014/main" id="{606A8EF4-9E46-4EAE-88A9-E620B1A441B1}"/>
              </a:ext>
            </a:extLst>
          </p:cNvPr>
          <p:cNvSpPr>
            <a:spLocks xmlns:a="http://schemas.openxmlformats.org/drawingml/2006/main" noGrp="1"/>
          </p:cNvSpPr>
          <p:nvPr/>
        </p:nvSpPr>
        <p:spPr>
          <a:xfrm xmlns:a="http://schemas.openxmlformats.org/drawingml/2006/main">
            <a:off x="11591925"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₦411.88K</a:t>
            </a:r>
          </a:p>
        </p:txBody>
      </p:sp>
      <p:sp>
        <p:nvSpPr>
          <p:cNvPr id="27" name="">
            <a:extLst xmlns:a="http://schemas.openxmlformats.org/drawingml/2006/main">
              <a:ext uri="{FF2B5EF4-FFF2-40B4-BE49-F238E27FC236}">
                <a16:creationId xmlns:a16="http://schemas.microsoft.com/office/drawing/2014/main" id="{0EA04052-D9F7-4AEE-BF38-C1D76271FF03}"/>
              </a:ext>
            </a:extLst>
          </p:cNvPr>
          <p:cNvSpPr>
            <a:spLocks xmlns:a="http://schemas.openxmlformats.org/drawingml/2006/main" noGrp="1"/>
          </p:cNvSpPr>
          <p:nvPr/>
        </p:nvSpPr>
        <p:spPr>
          <a:xfrm xmlns:a="http://schemas.openxmlformats.org/drawingml/2006/main">
            <a:off x="11591925"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Total revenue ÷ 484 customers</a:t>
            </a:r>
          </a:p>
        </p:txBody>
      </p:sp>
      <p:sp>
        <p:nvSpPr>
          <p:cNvPr id="28" name="">
            <a:extLst xmlns:a="http://schemas.openxmlformats.org/drawingml/2006/main">
              <a:ext uri="{FF2B5EF4-FFF2-40B4-BE49-F238E27FC236}">
                <a16:creationId xmlns:a16="http://schemas.microsoft.com/office/drawing/2014/main" id="{724B2106-B634-48A1-A98C-6B88614B6C30}"/>
              </a:ext>
            </a:extLst>
          </p:cNvPr>
          <p:cNvSpPr>
            <a:spLocks xmlns:a="http://schemas.openxmlformats.org/drawingml/2006/main" noGrp="1"/>
          </p:cNvSpPr>
          <p:nvPr/>
        </p:nvSpPr>
        <p:spPr>
          <a:xfrm xmlns:a="http://schemas.openxmlformats.org/drawingml/2006/main">
            <a:off x="381000" y="2828925"/>
            <a:ext cx="7239000" cy="5905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CAD2DFF-A9F7-4BD8-B108-300C45CAA648}"/>
              </a:ext>
            </a:extLst>
          </p:cNvPr>
          <p:cNvSpPr>
            <a:spLocks xmlns:a="http://schemas.openxmlformats.org/drawingml/2006/main" noGrp="1"/>
          </p:cNvSpPr>
          <p:nvPr/>
        </p:nvSpPr>
        <p:spPr>
          <a:xfrm xmlns:a="http://schemas.openxmlformats.org/drawingml/2006/main">
            <a:off x="609600" y="2990850"/>
            <a:ext cx="678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Reported reasons for churn</a:t>
            </a:r>
          </a:p>
        </p:txBody>
      </p:sp>
      <p:sp>
        <p:nvSpPr>
          <p:cNvPr id="30" name="">
            <a:extLst xmlns:a="http://schemas.openxmlformats.org/drawingml/2006/main">
              <a:ext uri="{FF2B5EF4-FFF2-40B4-BE49-F238E27FC236}">
                <a16:creationId xmlns:a16="http://schemas.microsoft.com/office/drawing/2014/main" id="{9B08DF77-01AE-4249-AB3C-2BCEA651CA60}"/>
              </a:ext>
            </a:extLst>
          </p:cNvPr>
          <p:cNvSpPr>
            <a:spLocks xmlns:a="http://schemas.openxmlformats.org/drawingml/2006/main" noGrp="1"/>
          </p:cNvSpPr>
          <p:nvPr/>
        </p:nvSpPr>
        <p:spPr>
          <a:xfrm xmlns:a="http://schemas.openxmlformats.org/drawingml/2006/main">
            <a:off x="609600" y="3343275"/>
            <a:ext cx="678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Number of churned customers</a:t>
            </a:r>
          </a:p>
        </p:txBody>
      </p:sp>
      <p:graphicFrame>
        <p:nvGraphicFramePr>
          <p:cNvPr id="73" name="Chart"/>
          <p:cNvGraphicFramePr/>
          <p:nvPr/>
        </p:nvGraphicFramePr>
        <p:xfrm>
          <a:off xmlns:a="http://schemas.openxmlformats.org/drawingml/2006/main" x="561975" y="3714750"/>
          <a:ext xmlns:a="http://schemas.openxmlformats.org/drawingml/2006/main" cx="6724650" cy="4029075"/>
        </p:xfrm>
        <a:graphic xmlns:a="http://schemas.openxmlformats.org/drawingml/2006/main">
          <a:graphicData uri="http://schemas.openxmlformats.org/drawingml/2006/chart">
            <c:chart xmlns:r="http://schemas.openxmlformats.org/officeDocument/2006/relationships" xmlns:c="http://schemas.openxmlformats.org/drawingml/2006/chart" r:id="Rf412f279e76a4a10"/>
          </a:graphicData>
        </a:graphic>
      </p:graphicFrame>
      <p:sp>
        <p:nvSpPr>
          <p:cNvPr id="32" name="">
            <a:extLst xmlns:a="http://schemas.openxmlformats.org/drawingml/2006/main">
              <a:ext uri="{FF2B5EF4-FFF2-40B4-BE49-F238E27FC236}">
                <a16:creationId xmlns:a16="http://schemas.microsoft.com/office/drawing/2014/main" id="{8040C052-425C-4B2D-BFF4-02133B5D7F00}"/>
              </a:ext>
            </a:extLst>
          </p:cNvPr>
          <p:cNvSpPr>
            <a:spLocks xmlns:a="http://schemas.openxmlformats.org/drawingml/2006/main" noGrp="1"/>
          </p:cNvSpPr>
          <p:nvPr/>
        </p:nvSpPr>
        <p:spPr>
          <a:xfrm xmlns:a="http://schemas.openxmlformats.org/drawingml/2006/main">
            <a:off x="609600" y="8020050"/>
            <a:ext cx="6781800" cy="514350"/>
          </a:xfrm>
          <a:prstGeom xmlns:a="http://schemas.openxmlformats.org/drawingml/2006/main" prst="rect">
            <a:avLst/>
          </a:prstGeom>
          <a:solidFill xmlns:a="http://schemas.openxmlformats.org/drawingml/2006/main">
            <a:srgbClr val="FFF7D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C6B0048-3A6E-42C2-BC42-64BB9C8F1BA1}"/>
              </a:ext>
            </a:extLst>
          </p:cNvPr>
          <p:cNvSpPr>
            <a:spLocks xmlns:a="http://schemas.openxmlformats.org/drawingml/2006/main" noGrp="1"/>
          </p:cNvSpPr>
          <p:nvPr/>
        </p:nvSpPr>
        <p:spPr>
          <a:xfrm xmlns:a="http://schemas.openxmlformats.org/drawingml/2006/main">
            <a:off x="762000" y="8105775"/>
            <a:ext cx="643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191C"/>
                </a:solidFill>
                <a:latin typeface="Aptos"/>
                <a:ea typeface="Aptos"/>
                <a:cs typeface="Aptos"/>
              </a:defRPr>
            </a:pPr>
            <a:r>
              <a:rPr sz="1500" b="1">
                <a:solidFill>
                  <a:srgbClr val="17191C"/>
                </a:solidFill>
                <a:latin typeface="Aptos"/>
                <a:ea typeface="Aptos"/>
                <a:cs typeface="Aptos"/>
              </a:rPr>
              <a:t>Better competitor offers lead with 28 of 141 cases.</a:t>
            </a:r>
          </a:p>
        </p:txBody>
      </p:sp>
      <p:sp>
        <p:nvSpPr>
          <p:cNvPr id="34" name="">
            <a:extLst xmlns:a="http://schemas.openxmlformats.org/drawingml/2006/main">
              <a:ext uri="{FF2B5EF4-FFF2-40B4-BE49-F238E27FC236}">
                <a16:creationId xmlns:a16="http://schemas.microsoft.com/office/drawing/2014/main" id="{8F729E3F-5B5E-43EF-AEB4-253043D0D53A}"/>
              </a:ext>
            </a:extLst>
          </p:cNvPr>
          <p:cNvSpPr>
            <a:spLocks xmlns:a="http://schemas.openxmlformats.org/drawingml/2006/main" noGrp="1"/>
          </p:cNvSpPr>
          <p:nvPr/>
        </p:nvSpPr>
        <p:spPr>
          <a:xfrm xmlns:a="http://schemas.openxmlformats.org/drawingml/2006/main">
            <a:off x="7848600" y="2828925"/>
            <a:ext cx="7010400" cy="2800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4F8F86E-D0D6-4E50-AA62-366E6751D631}"/>
              </a:ext>
            </a:extLst>
          </p:cNvPr>
          <p:cNvSpPr>
            <a:spLocks xmlns:a="http://schemas.openxmlformats.org/drawingml/2006/main" noGrp="1"/>
          </p:cNvSpPr>
          <p:nvPr/>
        </p:nvSpPr>
        <p:spPr>
          <a:xfrm xmlns:a="http://schemas.openxmlformats.org/drawingml/2006/main">
            <a:off x="8077200" y="2990850"/>
            <a:ext cx="655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Revenue by churn status</a:t>
            </a:r>
          </a:p>
        </p:txBody>
      </p:sp>
      <p:sp>
        <p:nvSpPr>
          <p:cNvPr id="36" name="">
            <a:extLst xmlns:a="http://schemas.openxmlformats.org/drawingml/2006/main">
              <a:ext uri="{FF2B5EF4-FFF2-40B4-BE49-F238E27FC236}">
                <a16:creationId xmlns:a16="http://schemas.microsoft.com/office/drawing/2014/main" id="{E7BCEBF6-53EB-44B3-B477-24CD4DDC4032}"/>
              </a:ext>
            </a:extLst>
          </p:cNvPr>
          <p:cNvSpPr>
            <a:spLocks xmlns:a="http://schemas.openxmlformats.org/drawingml/2006/main" noGrp="1"/>
          </p:cNvSpPr>
          <p:nvPr/>
        </p:nvSpPr>
        <p:spPr>
          <a:xfrm xmlns:a="http://schemas.openxmlformats.org/drawingml/2006/main">
            <a:off x="8077200" y="33432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Recorded revenue, ₦ millions</a:t>
            </a:r>
          </a:p>
        </p:txBody>
      </p:sp>
      <p:graphicFrame>
        <p:nvGraphicFramePr>
          <p:cNvPr id="79" name="Chart"/>
          <p:cNvGraphicFramePr/>
          <p:nvPr/>
        </p:nvGraphicFramePr>
        <p:xfrm>
          <a:off xmlns:a="http://schemas.openxmlformats.org/drawingml/2006/main" x="8039100" y="3676650"/>
          <a:ext xmlns:a="http://schemas.openxmlformats.org/drawingml/2006/main" cx="6591300" cy="1219200"/>
        </p:xfrm>
        <a:graphic xmlns:a="http://schemas.openxmlformats.org/drawingml/2006/main">
          <a:graphicData uri="http://schemas.openxmlformats.org/drawingml/2006/chart">
            <c:chart xmlns:r="http://schemas.openxmlformats.org/officeDocument/2006/relationships" xmlns:c="http://schemas.openxmlformats.org/drawingml/2006/chart" r:id="Rf83540f440f744ee"/>
          </a:graphicData>
        </a:graphic>
      </p:graphicFrame>
      <p:sp>
        <p:nvSpPr>
          <p:cNvPr id="38" name="">
            <a:extLst xmlns:a="http://schemas.openxmlformats.org/drawingml/2006/main">
              <a:ext uri="{FF2B5EF4-FFF2-40B4-BE49-F238E27FC236}">
                <a16:creationId xmlns:a16="http://schemas.microsoft.com/office/drawing/2014/main" id="{8B1959F3-B99B-4DCC-85EE-F1199E440058}"/>
              </a:ext>
            </a:extLst>
          </p:cNvPr>
          <p:cNvSpPr>
            <a:spLocks xmlns:a="http://schemas.openxmlformats.org/drawingml/2006/main" noGrp="1"/>
          </p:cNvSpPr>
          <p:nvPr/>
        </p:nvSpPr>
        <p:spPr>
          <a:xfrm xmlns:a="http://schemas.openxmlformats.org/drawingml/2006/main">
            <a:off x="8077200" y="5172075"/>
            <a:ext cx="655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0666E"/>
                </a:solidFill>
                <a:latin typeface="Aptos"/>
                <a:ea typeface="Aptos"/>
                <a:cs typeface="Aptos"/>
              </a:defRPr>
            </a:pPr>
            <a:r>
              <a:rPr sz="1350" b="0">
                <a:solidFill>
                  <a:srgbClr val="60666E"/>
                </a:solidFill>
                <a:latin typeface="Aptos"/>
                <a:ea typeface="Aptos"/>
                <a:cs typeface="Aptos"/>
              </a:rPr>
              <a:t>Churned customers account for 29.1% of recorded revenue.</a:t>
            </a:r>
          </a:p>
        </p:txBody>
      </p:sp>
      <p:sp>
        <p:nvSpPr>
          <p:cNvPr id="39" name="">
            <a:extLst xmlns:a="http://schemas.openxmlformats.org/drawingml/2006/main">
              <a:ext uri="{FF2B5EF4-FFF2-40B4-BE49-F238E27FC236}">
                <a16:creationId xmlns:a16="http://schemas.microsoft.com/office/drawing/2014/main" id="{9CCEC233-E6AA-4565-8763-217A4470AE78}"/>
              </a:ext>
            </a:extLst>
          </p:cNvPr>
          <p:cNvSpPr>
            <a:spLocks xmlns:a="http://schemas.openxmlformats.org/drawingml/2006/main" noGrp="1"/>
          </p:cNvSpPr>
          <p:nvPr/>
        </p:nvSpPr>
        <p:spPr>
          <a:xfrm xmlns:a="http://schemas.openxmlformats.org/drawingml/2006/main">
            <a:off x="7848600" y="5857875"/>
            <a:ext cx="7010400"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8C85AB8-A2D8-4C73-924A-B53727EA35DA}"/>
              </a:ext>
            </a:extLst>
          </p:cNvPr>
          <p:cNvSpPr>
            <a:spLocks xmlns:a="http://schemas.openxmlformats.org/drawingml/2006/main" noGrp="1"/>
          </p:cNvSpPr>
          <p:nvPr/>
        </p:nvSpPr>
        <p:spPr>
          <a:xfrm xmlns:a="http://schemas.openxmlformats.org/drawingml/2006/main">
            <a:off x="8077200" y="6019800"/>
            <a:ext cx="655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Churn by satisfaction score</a:t>
            </a:r>
          </a:p>
        </p:txBody>
      </p:sp>
      <p:sp>
        <p:nvSpPr>
          <p:cNvPr id="41" name="">
            <a:extLst xmlns:a="http://schemas.openxmlformats.org/drawingml/2006/main">
              <a:ext uri="{FF2B5EF4-FFF2-40B4-BE49-F238E27FC236}">
                <a16:creationId xmlns:a16="http://schemas.microsoft.com/office/drawing/2014/main" id="{88BD0149-CA84-4149-BABF-3A8D405CE1E0}"/>
              </a:ext>
            </a:extLst>
          </p:cNvPr>
          <p:cNvSpPr>
            <a:spLocks xmlns:a="http://schemas.openxmlformats.org/drawingml/2006/main" noGrp="1"/>
          </p:cNvSpPr>
          <p:nvPr/>
        </p:nvSpPr>
        <p:spPr>
          <a:xfrm xmlns:a="http://schemas.openxmlformats.org/drawingml/2006/main">
            <a:off x="8077200" y="63722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Customer counts by score; these are not churn rates</a:t>
            </a:r>
          </a:p>
        </p:txBody>
      </p:sp>
      <p:graphicFrame>
        <p:nvGraphicFramePr>
          <p:cNvPr id="84" name="Chart"/>
          <p:cNvGraphicFramePr/>
          <p:nvPr/>
        </p:nvGraphicFramePr>
        <p:xfrm>
          <a:off xmlns:a="http://schemas.openxmlformats.org/drawingml/2006/main" x="8096250" y="6715125"/>
          <a:ext xmlns:a="http://schemas.openxmlformats.org/drawingml/2006/main" cx="6467475" cy="1685925"/>
        </p:xfrm>
        <a:graphic xmlns:a="http://schemas.openxmlformats.org/drawingml/2006/main">
          <a:graphicData uri="http://schemas.openxmlformats.org/drawingml/2006/chart">
            <c:chart xmlns:r="http://schemas.openxmlformats.org/officeDocument/2006/relationships" xmlns:c="http://schemas.openxmlformats.org/drawingml/2006/chart" r:id="R225a3ac6cc9144b7"/>
          </a:graphicData>
        </a:graphic>
      </p:graphicFrame>
    </p:spTree>
    <p:extLst>
      <p:ext uri="{BB962C8B-B14F-4D97-AF65-F5344CB8AC3E}">
        <p14:creationId xmlns:p14="http://schemas.microsoft.com/office/powerpoint/2010/main" val="554364704"/>
      </p:ext>
    </p:extLst>
  </p:cSld>
</p:sld>
</file>

<file path=ppt/slides/slide2.xml><?xml version="1.0" encoding="utf-8"?>
<p:sld xmlns:p="http://schemas.openxmlformats.org/presentationml/2006/main">
  <p:cSld>
    <p:bg>
      <p:bgPr>
        <a:solidFill xmlns:a="http://schemas.openxmlformats.org/drawingml/2006/main">
          <a:srgbClr val="F4F5F6"/>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75E5BA49-C790-4398-81E3-305CEA7606F7}"/>
              </a:ext>
            </a:extLst>
          </p:cNvPr>
          <p:cNvSpPr>
            <a:spLocks xmlns:a="http://schemas.openxmlformats.org/drawingml/2006/main" noGrp="1"/>
          </p:cNvSpPr>
          <p:nvPr/>
        </p:nvSpPr>
        <p:spPr>
          <a:xfrm xmlns:a="http://schemas.openxmlformats.org/drawingml/2006/main">
            <a:off x="0" y="0"/>
            <a:ext cx="15240000" cy="952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BEC7A5-252F-47E2-A87D-1E97590D492F}"/>
              </a:ext>
            </a:extLst>
          </p:cNvPr>
          <p:cNvSpPr>
            <a:spLocks xmlns:a="http://schemas.openxmlformats.org/drawingml/2006/main" noGrp="1"/>
          </p:cNvSpPr>
          <p:nvPr/>
        </p:nvSpPr>
        <p:spPr>
          <a:xfrm xmlns:a="http://schemas.openxmlformats.org/drawingml/2006/main">
            <a:off x="381000" y="361950"/>
            <a:ext cx="971550" cy="590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A8FAF1-2870-4092-8D39-1ED61F1FB0BA}"/>
              </a:ext>
            </a:extLst>
          </p:cNvPr>
          <p:cNvSpPr>
            <a:spLocks xmlns:a="http://schemas.openxmlformats.org/drawingml/2006/main" noGrp="1"/>
          </p:cNvSpPr>
          <p:nvPr/>
        </p:nvSpPr>
        <p:spPr>
          <a:xfrm xmlns:a="http://schemas.openxmlformats.org/drawingml/2006/main">
            <a:off x="447675" y="447675"/>
            <a:ext cx="933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191C"/>
                </a:solidFill>
                <a:latin typeface="Aptos"/>
                <a:ea typeface="Aptos"/>
                <a:cs typeface="Aptos"/>
              </a:defRPr>
            </a:pPr>
            <a:r>
              <a:rPr sz="2175" b="1">
                <a:solidFill>
                  <a:srgbClr val="17191C"/>
                </a:solidFill>
                <a:latin typeface="Aptos"/>
                <a:ea typeface="Aptos"/>
                <a:cs typeface="Aptos"/>
              </a:rPr>
              <a:t>MTN</a:t>
            </a:r>
          </a:p>
        </p:txBody>
      </p:sp>
      <p:sp>
        <p:nvSpPr>
          <p:cNvPr id="4" name="">
            <a:extLst xmlns:a="http://schemas.openxmlformats.org/drawingml/2006/main">
              <a:ext uri="{FF2B5EF4-FFF2-40B4-BE49-F238E27FC236}">
                <a16:creationId xmlns:a16="http://schemas.microsoft.com/office/drawing/2014/main" id="{707EB0DC-8744-4D20-B797-17C1871554F6}"/>
              </a:ext>
            </a:extLst>
          </p:cNvPr>
          <p:cNvSpPr>
            <a:spLocks xmlns:a="http://schemas.openxmlformats.org/drawingml/2006/main" noGrp="1"/>
          </p:cNvSpPr>
          <p:nvPr/>
        </p:nvSpPr>
        <p:spPr>
          <a:xfrm xmlns:a="http://schemas.openxmlformats.org/drawingml/2006/main">
            <a:off x="1581150" y="3333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C"/>
                </a:solidFill>
                <a:latin typeface="Aptos"/>
                <a:ea typeface="Aptos"/>
                <a:cs typeface="Aptos"/>
              </a:defRPr>
            </a:pPr>
            <a:r>
              <a:rPr sz="2850" b="1">
                <a:solidFill>
                  <a:srgbClr val="17191C"/>
                </a:solidFill>
                <a:latin typeface="Aptos"/>
                <a:ea typeface="Aptos"/>
                <a:cs typeface="Aptos"/>
              </a:rPr>
              <a:t>Customer segments &amp; revenue</a:t>
            </a:r>
          </a:p>
        </p:txBody>
      </p:sp>
      <p:sp>
        <p:nvSpPr>
          <p:cNvPr id="5" name="">
            <a:extLst xmlns:a="http://schemas.openxmlformats.org/drawingml/2006/main">
              <a:ext uri="{FF2B5EF4-FFF2-40B4-BE49-F238E27FC236}">
                <a16:creationId xmlns:a16="http://schemas.microsoft.com/office/drawing/2014/main" id="{608EF162-1C5F-445D-B40F-B830FF71F31C}"/>
              </a:ext>
            </a:extLst>
          </p:cNvPr>
          <p:cNvSpPr>
            <a:spLocks xmlns:a="http://schemas.openxmlformats.org/drawingml/2006/main" noGrp="1"/>
          </p:cNvSpPr>
          <p:nvPr/>
        </p:nvSpPr>
        <p:spPr>
          <a:xfrm xmlns:a="http://schemas.openxmlformats.org/drawingml/2006/main">
            <a:off x="1600200"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66E"/>
                </a:solidFill>
                <a:latin typeface="Aptos"/>
                <a:ea typeface="Aptos"/>
                <a:cs typeface="Aptos"/>
              </a:defRPr>
            </a:pPr>
            <a:r>
              <a:rPr sz="1500" b="0">
                <a:solidFill>
                  <a:srgbClr val="60666E"/>
                </a:solidFill>
                <a:latin typeface="Aptos"/>
                <a:ea typeface="Aptos"/>
                <a:cs typeface="Aptos"/>
              </a:rPr>
              <a:t>Nigeria   /   Q1 2026   /   Customer churn analysis</a:t>
            </a:r>
          </a:p>
        </p:txBody>
      </p:sp>
      <p:sp>
        <p:nvSpPr>
          <p:cNvPr id="6" name="">
            <ns0:hlinkClick xmlns:ns0="http://schemas.openxmlformats.org/drawingml/2006/main" xmlns:ns1="http://schemas.openxmlformats.org/officeDocument/2006/relationships" ns1:id="rIdNav1" action="ppaction://hlinksldjump" tooltip="Go to Overview"/>
            <a:extLst xmlns:a="http://schemas.openxmlformats.org/drawingml/2006/main">
              <a:ext uri="{FF2B5EF4-FFF2-40B4-BE49-F238E27FC236}">
                <a16:creationId xmlns:a16="http://schemas.microsoft.com/office/drawing/2014/main" id="{EC0D4CC0-8BE1-47D5-9098-85DC0EEF0307}"/>
              </a:ext>
            </a:extLst>
          </p:cNvPr>
          <p:cNvSpPr>
            <a:spLocks xmlns:a="http://schemas.openxmlformats.org/drawingml/2006/main" noGrp="1"/>
          </p:cNvSpPr>
          <p:nvPr/>
        </p:nvSpPr>
        <p:spPr>
          <a:xfrm xmlns:a="http://schemas.openxmlformats.org/drawingml/2006/main">
            <a:off x="11049000" y="533400"/>
            <a:ext cx="1524000" cy="447675"/>
          </a:xfrm>
          <a:prstGeom xmlns:a="http://schemas.openxmlformats.org/drawingml/2006/main" prst="rect">
            <a:avLst/>
          </a:prstGeom>
          <a:solidFill xmlns:a="http://schemas.openxmlformats.org/drawingml/2006/main">
            <a:srgbClr val="17191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hlinkClick xmlns:ns0="http://schemas.openxmlformats.org/officeDocument/2006/relationships" ns0:id="rIdNav1" action="ppaction://hlinksldjump" tooltip="Go to Overview"/>
              </a:rPr>
              <a:t>Overview</a:t>
            </a:r>
          </a:p>
        </p:txBody>
      </p:sp>
      <p:sp>
        <p:nvSpPr>
          <p:cNvPr id="7" name="">
            <ns0:hlinkClick xmlns:ns0="http://schemas.openxmlformats.org/drawingml/2006/main" xmlns:ns1="http://schemas.openxmlformats.org/officeDocument/2006/relationships" ns1:id="rIdNav2" action="ppaction://hlinksldjump" tooltip="Go to Customer detail"/>
            <a:extLst xmlns:a="http://schemas.openxmlformats.org/drawingml/2006/main">
              <a:ext uri="{FF2B5EF4-FFF2-40B4-BE49-F238E27FC236}">
                <a16:creationId xmlns:a16="http://schemas.microsoft.com/office/drawing/2014/main" id="{5CD691A4-1073-4B68-BEE2-EC90AF95122D}"/>
              </a:ext>
            </a:extLst>
          </p:cNvPr>
          <p:cNvSpPr>
            <a:spLocks xmlns:a="http://schemas.openxmlformats.org/drawingml/2006/main" noGrp="1"/>
          </p:cNvSpPr>
          <p:nvPr/>
        </p:nvSpPr>
        <p:spPr>
          <a:xfrm xmlns:a="http://schemas.openxmlformats.org/drawingml/2006/main">
            <a:off x="12687300" y="533400"/>
            <a:ext cx="2171700" cy="447675"/>
          </a:xfrm>
          <a:prstGeom xmlns:a="http://schemas.openxmlformats.org/drawingml/2006/main" prst="rect">
            <a:avLst/>
          </a:prstGeom>
          <a:solidFill xmlns:a="http://schemas.openxmlformats.org/drawingml/2006/main">
            <a:srgbClr val="FFCB05"/>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191C"/>
                </a:solidFill>
                <a:latin typeface="Aptos"/>
                <a:ea typeface="Aptos"/>
                <a:cs typeface="Aptos"/>
              </a:defRPr>
            </a:pPr>
            <a:r>
              <a:rPr sz="1500" b="1">
                <a:solidFill>
                  <a:srgbClr val="17191C"/>
                </a:solidFill>
                <a:latin typeface="Aptos"/>
                <a:ea typeface="Aptos"/>
                <a:cs typeface="Aptos"/>
                <a:hlinkClick xmlns:ns1="http://schemas.openxmlformats.org/officeDocument/2006/relationships" ns1:id="rIdNav2" action="ppaction://hlinksldjump" tooltip="Go to Customer detail"/>
              </a:rPr>
              <a:t>Customer detail</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f0ea67c18fa2484b"/>
          <a:srcRect xmlns:a="http://schemas.openxmlformats.org/drawingml/2006/main" l="0" t="0" r="0" b="0"/>
          <a:stretch xmlns:a="http://schemas.openxmlformats.org/drawingml/2006/main">
            <a:fillRect l="0" t="0" r="0" b="0"/>
          </a:stretch>
        </p:blipFill>
        <p:spPr>
          <a:xfrm xmlns:a="http://schemas.openxmlformats.org/drawingml/2006/main">
            <a:off x="381000" y="8848725"/>
            <a:ext cx="590550" cy="590550"/>
          </a:xfrm>
          <a:prstGeom xmlns:a="http://schemas.openxmlformats.org/drawingml/2006/main" prst="ellipse">
            <a:avLst/>
          </a:prstGeom>
        </p:spPr>
      </p:pic>
      <p:sp>
        <p:nvSpPr>
          <p:cNvPr id="9" name="">
            <a:extLst xmlns:a="http://schemas.openxmlformats.org/drawingml/2006/main">
              <a:ext uri="{FF2B5EF4-FFF2-40B4-BE49-F238E27FC236}">
                <a16:creationId xmlns:a16="http://schemas.microsoft.com/office/drawing/2014/main" id="{02F3567B-94C8-4174-893A-3EBABF556282}"/>
              </a:ext>
            </a:extLst>
          </p:cNvPr>
          <p:cNvSpPr>
            <a:spLocks xmlns:a="http://schemas.openxmlformats.org/drawingml/2006/main" noGrp="1"/>
          </p:cNvSpPr>
          <p:nvPr/>
        </p:nvSpPr>
        <p:spPr>
          <a:xfrm xmlns:a="http://schemas.openxmlformats.org/drawingml/2006/main">
            <a:off x="1104900" y="8886825"/>
            <a:ext cx="619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191C"/>
                </a:solidFill>
                <a:latin typeface="Aptos"/>
                <a:ea typeface="Aptos"/>
                <a:cs typeface="Aptos"/>
              </a:defRPr>
            </a:pPr>
            <a:r>
              <a:rPr sz="1500" b="1">
                <a:solidFill>
                  <a:srgbClr val="17191C"/>
                </a:solidFill>
                <a:latin typeface="Aptos"/>
                <a:ea typeface="Aptos"/>
                <a:cs typeface="Aptos"/>
              </a:rPr>
              <a:t>Ojo Jonathan Felix</a:t>
            </a:r>
          </a:p>
        </p:txBody>
      </p:sp>
      <p:sp>
        <p:nvSpPr>
          <p:cNvPr id="10" name="">
            <a:extLst xmlns:a="http://schemas.openxmlformats.org/drawingml/2006/main">
              <a:ext uri="{FF2B5EF4-FFF2-40B4-BE49-F238E27FC236}">
                <a16:creationId xmlns:a16="http://schemas.microsoft.com/office/drawing/2014/main" id="{EF6370F0-5CB4-4BF8-AE78-6D463CFF78BF}"/>
              </a:ext>
            </a:extLst>
          </p:cNvPr>
          <p:cNvSpPr>
            <a:spLocks xmlns:a="http://schemas.openxmlformats.org/drawingml/2006/main" noGrp="1"/>
          </p:cNvSpPr>
          <p:nvPr/>
        </p:nvSpPr>
        <p:spPr>
          <a:xfrm xmlns:a="http://schemas.openxmlformats.org/drawingml/2006/main">
            <a:off x="1104900" y="91630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0666E"/>
                </a:solidFill>
                <a:latin typeface="Aptos"/>
                <a:ea typeface="Aptos"/>
                <a:cs typeface="Aptos"/>
              </a:defRPr>
            </a:pPr>
            <a:r>
              <a:rPr sz="1200" b="0">
                <a:solidFill>
                  <a:srgbClr val="60666E"/>
                </a:solidFill>
                <a:latin typeface="Aptos"/>
                <a:ea typeface="Aptos"/>
                <a:cs typeface="Aptos"/>
              </a:rPr>
              <a:t>Data Analyst</a:t>
            </a:r>
          </a:p>
        </p:txBody>
      </p:sp>
      <p:sp>
        <p:nvSpPr>
          <p:cNvPr id="11" name="">
            <a:extLst xmlns:a="http://schemas.openxmlformats.org/drawingml/2006/main">
              <a:ext uri="{FF2B5EF4-FFF2-40B4-BE49-F238E27FC236}">
                <a16:creationId xmlns:a16="http://schemas.microsoft.com/office/drawing/2014/main" id="{B61E4722-C36D-4FCC-B497-F270223B2201}"/>
              </a:ext>
            </a:extLst>
          </p:cNvPr>
          <p:cNvSpPr>
            <a:spLocks xmlns:a="http://schemas.openxmlformats.org/drawingml/2006/main" noGrp="1"/>
          </p:cNvSpPr>
          <p:nvPr/>
        </p:nvSpPr>
        <p:spPr>
          <a:xfrm xmlns:a="http://schemas.openxmlformats.org/drawingml/2006/main">
            <a:off x="9620250" y="9124950"/>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0666E"/>
                </a:solidFill>
                <a:latin typeface="Aptos"/>
                <a:ea typeface="Aptos"/>
                <a:cs typeface="Aptos"/>
              </a:defRPr>
            </a:pPr>
            <a:r>
              <a:rPr sz="1200" b="0">
                <a:solidFill>
                  <a:srgbClr val="60666E"/>
                </a:solidFill>
                <a:latin typeface="Aptos"/>
                <a:ea typeface="Aptos"/>
                <a:cs typeface="Aptos"/>
              </a:rPr>
              <a:t>Source: supplied MTN customer churn dashboard</a:t>
            </a:r>
          </a:p>
        </p:txBody>
      </p:sp>
      <p:sp>
        <p:nvSpPr>
          <p:cNvPr id="12" name="">
            <a:extLst xmlns:a="http://schemas.openxmlformats.org/drawingml/2006/main">
              <a:ext uri="{FF2B5EF4-FFF2-40B4-BE49-F238E27FC236}">
                <a16:creationId xmlns:a16="http://schemas.microsoft.com/office/drawing/2014/main" id="{9F1D34C5-B0A7-4F01-B32B-DCB83FE196E1}"/>
              </a:ext>
            </a:extLst>
          </p:cNvPr>
          <p:cNvSpPr>
            <a:spLocks xmlns:a="http://schemas.openxmlformats.org/drawingml/2006/main" noGrp="1"/>
          </p:cNvSpPr>
          <p:nvPr/>
        </p:nvSpPr>
        <p:spPr>
          <a:xfrm xmlns:a="http://schemas.openxmlformats.org/drawingml/2006/main">
            <a:off x="381000" y="1400175"/>
            <a:ext cx="3476625" cy="12001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ADFD60-8C31-4832-92FA-8BB30103AA75}"/>
              </a:ext>
            </a:extLst>
          </p:cNvPr>
          <p:cNvSpPr>
            <a:spLocks xmlns:a="http://schemas.openxmlformats.org/drawingml/2006/main" noGrp="1"/>
          </p:cNvSpPr>
          <p:nvPr/>
        </p:nvSpPr>
        <p:spPr>
          <a:xfrm xmlns:a="http://schemas.openxmlformats.org/drawingml/2006/main">
            <a:off x="590550"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CHURNED CUSTOMERS</a:t>
            </a:r>
          </a:p>
        </p:txBody>
      </p:sp>
      <p:sp>
        <p:nvSpPr>
          <p:cNvPr id="14" name="">
            <a:extLst xmlns:a="http://schemas.openxmlformats.org/drawingml/2006/main">
              <a:ext uri="{FF2B5EF4-FFF2-40B4-BE49-F238E27FC236}">
                <a16:creationId xmlns:a16="http://schemas.microsoft.com/office/drawing/2014/main" id="{D05F9BA7-4A30-4D60-8C72-584689470362}"/>
              </a:ext>
            </a:extLst>
          </p:cNvPr>
          <p:cNvSpPr>
            <a:spLocks xmlns:a="http://schemas.openxmlformats.org/drawingml/2006/main" noGrp="1"/>
          </p:cNvSpPr>
          <p:nvPr/>
        </p:nvSpPr>
        <p:spPr>
          <a:xfrm xmlns:a="http://schemas.openxmlformats.org/drawingml/2006/main">
            <a:off x="590550"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141</a:t>
            </a:r>
          </a:p>
        </p:txBody>
      </p:sp>
      <p:sp>
        <p:nvSpPr>
          <p:cNvPr id="15" name="">
            <a:extLst xmlns:a="http://schemas.openxmlformats.org/drawingml/2006/main">
              <a:ext uri="{FF2B5EF4-FFF2-40B4-BE49-F238E27FC236}">
                <a16:creationId xmlns:a16="http://schemas.microsoft.com/office/drawing/2014/main" id="{44D6FDBE-5C64-41A2-90E8-21797241AD37}"/>
              </a:ext>
            </a:extLst>
          </p:cNvPr>
          <p:cNvSpPr>
            <a:spLocks xmlns:a="http://schemas.openxmlformats.org/drawingml/2006/main" noGrp="1"/>
          </p:cNvSpPr>
          <p:nvPr/>
        </p:nvSpPr>
        <p:spPr>
          <a:xfrm xmlns:a="http://schemas.openxmlformats.org/drawingml/2006/main">
            <a:off x="590550"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29.13% of the customer base</a:t>
            </a:r>
          </a:p>
        </p:txBody>
      </p:sp>
      <p:sp>
        <p:nvSpPr>
          <p:cNvPr id="16" name="">
            <a:extLst xmlns:a="http://schemas.openxmlformats.org/drawingml/2006/main">
              <a:ext uri="{FF2B5EF4-FFF2-40B4-BE49-F238E27FC236}">
                <a16:creationId xmlns:a16="http://schemas.microsoft.com/office/drawing/2014/main" id="{C6AA3AC3-343D-49B3-B9A2-6284644E01A6}"/>
              </a:ext>
            </a:extLst>
          </p:cNvPr>
          <p:cNvSpPr>
            <a:spLocks xmlns:a="http://schemas.openxmlformats.org/drawingml/2006/main" noGrp="1"/>
          </p:cNvSpPr>
          <p:nvPr/>
        </p:nvSpPr>
        <p:spPr>
          <a:xfrm xmlns:a="http://schemas.openxmlformats.org/drawingml/2006/main">
            <a:off x="4048125"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2CBB5CC-381D-4D7D-A18A-51E87EE83FB1}"/>
              </a:ext>
            </a:extLst>
          </p:cNvPr>
          <p:cNvSpPr>
            <a:spLocks xmlns:a="http://schemas.openxmlformats.org/drawingml/2006/main" noGrp="1"/>
          </p:cNvSpPr>
          <p:nvPr/>
        </p:nvSpPr>
        <p:spPr>
          <a:xfrm xmlns:a="http://schemas.openxmlformats.org/drawingml/2006/main">
            <a:off x="4257675"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RETAINED CUSTOMERS</a:t>
            </a:r>
          </a:p>
        </p:txBody>
      </p:sp>
      <p:sp>
        <p:nvSpPr>
          <p:cNvPr id="18" name="">
            <a:extLst xmlns:a="http://schemas.openxmlformats.org/drawingml/2006/main">
              <a:ext uri="{FF2B5EF4-FFF2-40B4-BE49-F238E27FC236}">
                <a16:creationId xmlns:a16="http://schemas.microsoft.com/office/drawing/2014/main" id="{02AA7CF9-FBD1-44A0-9E9E-FDFC6FEF9FA7}"/>
              </a:ext>
            </a:extLst>
          </p:cNvPr>
          <p:cNvSpPr>
            <a:spLocks xmlns:a="http://schemas.openxmlformats.org/drawingml/2006/main" noGrp="1"/>
          </p:cNvSpPr>
          <p:nvPr/>
        </p:nvSpPr>
        <p:spPr>
          <a:xfrm xmlns:a="http://schemas.openxmlformats.org/drawingml/2006/main">
            <a:off x="4257675"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343</a:t>
            </a:r>
          </a:p>
        </p:txBody>
      </p:sp>
      <p:sp>
        <p:nvSpPr>
          <p:cNvPr id="19" name="">
            <a:extLst xmlns:a="http://schemas.openxmlformats.org/drawingml/2006/main">
              <a:ext uri="{FF2B5EF4-FFF2-40B4-BE49-F238E27FC236}">
                <a16:creationId xmlns:a16="http://schemas.microsoft.com/office/drawing/2014/main" id="{B39926C9-6513-4FC8-BA36-D2B3764406BC}"/>
              </a:ext>
            </a:extLst>
          </p:cNvPr>
          <p:cNvSpPr>
            <a:spLocks xmlns:a="http://schemas.openxmlformats.org/drawingml/2006/main" noGrp="1"/>
          </p:cNvSpPr>
          <p:nvPr/>
        </p:nvSpPr>
        <p:spPr>
          <a:xfrm xmlns:a="http://schemas.openxmlformats.org/drawingml/2006/main">
            <a:off x="4257675"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484 total less 141 churned</a:t>
            </a:r>
          </a:p>
        </p:txBody>
      </p:sp>
      <p:sp>
        <p:nvSpPr>
          <p:cNvPr id="20" name="">
            <a:extLst xmlns:a="http://schemas.openxmlformats.org/drawingml/2006/main">
              <a:ext uri="{FF2B5EF4-FFF2-40B4-BE49-F238E27FC236}">
                <a16:creationId xmlns:a16="http://schemas.microsoft.com/office/drawing/2014/main" id="{CF5517DB-CF94-4D71-8ACB-9CBD985349BE}"/>
              </a:ext>
            </a:extLst>
          </p:cNvPr>
          <p:cNvSpPr>
            <a:spLocks xmlns:a="http://schemas.openxmlformats.org/drawingml/2006/main" noGrp="1"/>
          </p:cNvSpPr>
          <p:nvPr/>
        </p:nvSpPr>
        <p:spPr>
          <a:xfrm xmlns:a="http://schemas.openxmlformats.org/drawingml/2006/main">
            <a:off x="7715250"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C1BBF4C-D625-4F19-96CA-9B5C950E98AF}"/>
              </a:ext>
            </a:extLst>
          </p:cNvPr>
          <p:cNvSpPr>
            <a:spLocks xmlns:a="http://schemas.openxmlformats.org/drawingml/2006/main" noGrp="1"/>
          </p:cNvSpPr>
          <p:nvPr/>
        </p:nvSpPr>
        <p:spPr>
          <a:xfrm xmlns:a="http://schemas.openxmlformats.org/drawingml/2006/main">
            <a:off x="7924800"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LARGEST STATE COUNT</a:t>
            </a:r>
          </a:p>
        </p:txBody>
      </p:sp>
      <p:sp>
        <p:nvSpPr>
          <p:cNvPr id="22" name="">
            <a:extLst xmlns:a="http://schemas.openxmlformats.org/drawingml/2006/main">
              <a:ext uri="{FF2B5EF4-FFF2-40B4-BE49-F238E27FC236}">
                <a16:creationId xmlns:a16="http://schemas.microsoft.com/office/drawing/2014/main" id="{D899AA3F-02A3-4CC3-A42B-3D46B73B144E}"/>
              </a:ext>
            </a:extLst>
          </p:cNvPr>
          <p:cNvSpPr>
            <a:spLocks xmlns:a="http://schemas.openxmlformats.org/drawingml/2006/main" noGrp="1"/>
          </p:cNvSpPr>
          <p:nvPr/>
        </p:nvSpPr>
        <p:spPr>
          <a:xfrm xmlns:a="http://schemas.openxmlformats.org/drawingml/2006/main">
            <a:off x="7924800"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91C"/>
                </a:solidFill>
                <a:latin typeface="Aptos"/>
                <a:ea typeface="Aptos"/>
                <a:cs typeface="Aptos"/>
              </a:defRPr>
            </a:pPr>
            <a:r>
              <a:rPr sz="3300" b="1">
                <a:solidFill>
                  <a:srgbClr val="17191C"/>
                </a:solidFill>
                <a:latin typeface="Aptos"/>
                <a:ea typeface="Aptos"/>
                <a:cs typeface="Aptos"/>
              </a:rPr>
              <a:t>Imo</a:t>
            </a:r>
          </a:p>
        </p:txBody>
      </p:sp>
      <p:sp>
        <p:nvSpPr>
          <p:cNvPr id="23" name="">
            <a:extLst xmlns:a="http://schemas.openxmlformats.org/drawingml/2006/main">
              <a:ext uri="{FF2B5EF4-FFF2-40B4-BE49-F238E27FC236}">
                <a16:creationId xmlns:a16="http://schemas.microsoft.com/office/drawing/2014/main" id="{4B4DE2EB-312A-4233-A311-267CF3F93895}"/>
              </a:ext>
            </a:extLst>
          </p:cNvPr>
          <p:cNvSpPr>
            <a:spLocks xmlns:a="http://schemas.openxmlformats.org/drawingml/2006/main" noGrp="1"/>
          </p:cNvSpPr>
          <p:nvPr/>
        </p:nvSpPr>
        <p:spPr>
          <a:xfrm xmlns:a="http://schemas.openxmlformats.org/drawingml/2006/main">
            <a:off x="7924800"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9 churned customers in the source</a:t>
            </a:r>
          </a:p>
        </p:txBody>
      </p:sp>
      <p:sp>
        <p:nvSpPr>
          <p:cNvPr id="24" name="">
            <a:extLst xmlns:a="http://schemas.openxmlformats.org/drawingml/2006/main">
              <a:ext uri="{FF2B5EF4-FFF2-40B4-BE49-F238E27FC236}">
                <a16:creationId xmlns:a16="http://schemas.microsoft.com/office/drawing/2014/main" id="{04E109F3-45DB-4205-8E35-00C0DA4B2D28}"/>
              </a:ext>
            </a:extLst>
          </p:cNvPr>
          <p:cNvSpPr>
            <a:spLocks xmlns:a="http://schemas.openxmlformats.org/drawingml/2006/main" noGrp="1"/>
          </p:cNvSpPr>
          <p:nvPr/>
        </p:nvSpPr>
        <p:spPr>
          <a:xfrm xmlns:a="http://schemas.openxmlformats.org/drawingml/2006/main">
            <a:off x="11382375" y="1400175"/>
            <a:ext cx="3476625" cy="1200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AB28B9C-180A-4B04-9033-EC9D12DD3914}"/>
              </a:ext>
            </a:extLst>
          </p:cNvPr>
          <p:cNvSpPr>
            <a:spLocks xmlns:a="http://schemas.openxmlformats.org/drawingml/2006/main" noGrp="1"/>
          </p:cNvSpPr>
          <p:nvPr/>
        </p:nvSpPr>
        <p:spPr>
          <a:xfrm xmlns:a="http://schemas.openxmlformats.org/drawingml/2006/main">
            <a:off x="11591925" y="154305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191C"/>
                </a:solidFill>
                <a:latin typeface="Aptos"/>
                <a:ea typeface="Aptos"/>
                <a:cs typeface="Aptos"/>
              </a:defRPr>
            </a:pPr>
            <a:r>
              <a:rPr sz="1425" b="1">
                <a:solidFill>
                  <a:srgbClr val="17191C"/>
                </a:solidFill>
                <a:latin typeface="Aptos"/>
                <a:ea typeface="Aptos"/>
                <a:cs typeface="Aptos"/>
              </a:rPr>
              <a:t>LEADING REVENUE PLAN</a:t>
            </a:r>
          </a:p>
        </p:txBody>
      </p:sp>
      <p:sp>
        <p:nvSpPr>
          <p:cNvPr id="26" name="">
            <a:extLst xmlns:a="http://schemas.openxmlformats.org/drawingml/2006/main">
              <a:ext uri="{FF2B5EF4-FFF2-40B4-BE49-F238E27FC236}">
                <a16:creationId xmlns:a16="http://schemas.microsoft.com/office/drawing/2014/main" id="{DBF2BA9F-0C5C-4144-9E61-4E97F066298B}"/>
              </a:ext>
            </a:extLst>
          </p:cNvPr>
          <p:cNvSpPr>
            <a:spLocks xmlns:a="http://schemas.openxmlformats.org/drawingml/2006/main" noGrp="1"/>
          </p:cNvSpPr>
          <p:nvPr/>
        </p:nvSpPr>
        <p:spPr>
          <a:xfrm xmlns:a="http://schemas.openxmlformats.org/drawingml/2006/main">
            <a:off x="11591925" y="18288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191C"/>
                </a:solidFill>
                <a:latin typeface="Aptos"/>
                <a:ea typeface="Aptos"/>
                <a:cs typeface="Aptos"/>
              </a:defRPr>
            </a:pPr>
            <a:r>
              <a:rPr sz="2175" b="1">
                <a:solidFill>
                  <a:srgbClr val="17191C"/>
                </a:solidFill>
                <a:latin typeface="Aptos"/>
                <a:ea typeface="Aptos"/>
                <a:cs typeface="Aptos"/>
              </a:rPr>
              <a:t>1.5TB Yearly…</a:t>
            </a:r>
          </a:p>
        </p:txBody>
      </p:sp>
      <p:sp>
        <p:nvSpPr>
          <p:cNvPr id="27" name="">
            <a:extLst xmlns:a="http://schemas.openxmlformats.org/drawingml/2006/main">
              <a:ext uri="{FF2B5EF4-FFF2-40B4-BE49-F238E27FC236}">
                <a16:creationId xmlns:a16="http://schemas.microsoft.com/office/drawing/2014/main" id="{04002D9C-1B0A-460F-BEAD-E205DBBAF7F5}"/>
              </a:ext>
            </a:extLst>
          </p:cNvPr>
          <p:cNvSpPr>
            <a:spLocks xmlns:a="http://schemas.openxmlformats.org/drawingml/2006/main" noGrp="1"/>
          </p:cNvSpPr>
          <p:nvPr/>
        </p:nvSpPr>
        <p:spPr>
          <a:xfrm xmlns:a="http://schemas.openxmlformats.org/drawingml/2006/main">
            <a:off x="11591925" y="2324100"/>
            <a:ext cx="3076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Highest-ranked plan in the source</a:t>
            </a:r>
          </a:p>
        </p:txBody>
      </p:sp>
      <p:sp>
        <p:nvSpPr>
          <p:cNvPr id="28" name="">
            <a:extLst xmlns:a="http://schemas.openxmlformats.org/drawingml/2006/main">
              <a:ext uri="{FF2B5EF4-FFF2-40B4-BE49-F238E27FC236}">
                <a16:creationId xmlns:a16="http://schemas.microsoft.com/office/drawing/2014/main" id="{B3708AD3-FCE5-4FB1-B85D-FE81FA179E96}"/>
              </a:ext>
            </a:extLst>
          </p:cNvPr>
          <p:cNvSpPr>
            <a:spLocks xmlns:a="http://schemas.openxmlformats.org/drawingml/2006/main" noGrp="1"/>
          </p:cNvSpPr>
          <p:nvPr/>
        </p:nvSpPr>
        <p:spPr>
          <a:xfrm xmlns:a="http://schemas.openxmlformats.org/drawingml/2006/main">
            <a:off x="381000" y="2828925"/>
            <a:ext cx="7524750" cy="5905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4F394DF-F981-4452-8C68-3A892B4786D3}"/>
              </a:ext>
            </a:extLst>
          </p:cNvPr>
          <p:cNvSpPr>
            <a:spLocks xmlns:a="http://schemas.openxmlformats.org/drawingml/2006/main" noGrp="1"/>
          </p:cNvSpPr>
          <p:nvPr/>
        </p:nvSpPr>
        <p:spPr>
          <a:xfrm xmlns:a="http://schemas.openxmlformats.org/drawingml/2006/main">
            <a:off x="609600" y="2990850"/>
            <a:ext cx="7067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Churn across labeled states</a:t>
            </a:r>
          </a:p>
        </p:txBody>
      </p:sp>
      <p:sp>
        <p:nvSpPr>
          <p:cNvPr id="30" name="">
            <a:extLst xmlns:a="http://schemas.openxmlformats.org/drawingml/2006/main">
              <a:ext uri="{FF2B5EF4-FFF2-40B4-BE49-F238E27FC236}">
                <a16:creationId xmlns:a16="http://schemas.microsoft.com/office/drawing/2014/main" id="{33282A59-89D7-4856-B642-88543CFAB88F}"/>
              </a:ext>
            </a:extLst>
          </p:cNvPr>
          <p:cNvSpPr>
            <a:spLocks xmlns:a="http://schemas.openxmlformats.org/drawingml/2006/main" noGrp="1"/>
          </p:cNvSpPr>
          <p:nvPr/>
        </p:nvSpPr>
        <p:spPr>
          <a:xfrm xmlns:a="http://schemas.openxmlformats.org/drawingml/2006/main">
            <a:off x="609600" y="3343275"/>
            <a:ext cx="706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18 named states visible in the source chart; customer counts</a:t>
            </a:r>
          </a:p>
        </p:txBody>
      </p:sp>
      <p:graphicFrame>
        <p:nvGraphicFramePr>
          <p:cNvPr id="82" name="Chart"/>
          <p:cNvGraphicFramePr/>
          <p:nvPr/>
        </p:nvGraphicFramePr>
        <p:xfrm>
          <a:off xmlns:a="http://schemas.openxmlformats.org/drawingml/2006/main" x="581025" y="3695700"/>
          <a:ext xmlns:a="http://schemas.openxmlformats.org/drawingml/2006/main" cx="6934200" cy="4600575"/>
        </p:xfrm>
        <a:graphic xmlns:a="http://schemas.openxmlformats.org/drawingml/2006/main">
          <a:graphicData uri="http://schemas.openxmlformats.org/drawingml/2006/chart">
            <c:chart xmlns:r="http://schemas.openxmlformats.org/officeDocument/2006/relationships" xmlns:c="http://schemas.openxmlformats.org/drawingml/2006/chart" r:id="Rf1ef4e0414c64c1c"/>
          </a:graphicData>
        </a:graphic>
      </p:graphicFrame>
      <p:sp>
        <p:nvSpPr>
          <p:cNvPr id="32" name="">
            <a:extLst xmlns:a="http://schemas.openxmlformats.org/drawingml/2006/main">
              <a:ext uri="{FF2B5EF4-FFF2-40B4-BE49-F238E27FC236}">
                <a16:creationId xmlns:a16="http://schemas.microsoft.com/office/drawing/2014/main" id="{9131B43F-6306-4004-8CB6-F33250333525}"/>
              </a:ext>
            </a:extLst>
          </p:cNvPr>
          <p:cNvSpPr>
            <a:spLocks xmlns:a="http://schemas.openxmlformats.org/drawingml/2006/main" noGrp="1"/>
          </p:cNvSpPr>
          <p:nvPr/>
        </p:nvSpPr>
        <p:spPr>
          <a:xfrm xmlns:a="http://schemas.openxmlformats.org/drawingml/2006/main">
            <a:off x="609600" y="8391525"/>
            <a:ext cx="705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0666E"/>
                </a:solidFill>
                <a:latin typeface="Aptos"/>
                <a:ea typeface="Aptos"/>
                <a:cs typeface="Aptos"/>
              </a:defRPr>
            </a:pPr>
            <a:r>
              <a:rPr sz="1200" b="0">
                <a:solidFill>
                  <a:srgbClr val="60666E"/>
                </a:solidFill>
                <a:latin typeface="Aptos"/>
                <a:ea typeface="Aptos"/>
                <a:cs typeface="Aptos"/>
              </a:rPr>
              <a:t>Only states with visible names are shown; this is not a full ranking.</a:t>
            </a:r>
          </a:p>
        </p:txBody>
      </p:sp>
      <p:sp>
        <p:nvSpPr>
          <p:cNvPr id="33" name="">
            <a:extLst xmlns:a="http://schemas.openxmlformats.org/drawingml/2006/main">
              <a:ext uri="{FF2B5EF4-FFF2-40B4-BE49-F238E27FC236}">
                <a16:creationId xmlns:a16="http://schemas.microsoft.com/office/drawing/2014/main" id="{C83A72B0-3CA3-43E1-9351-0B760A761EF3}"/>
              </a:ext>
            </a:extLst>
          </p:cNvPr>
          <p:cNvSpPr>
            <a:spLocks xmlns:a="http://schemas.openxmlformats.org/drawingml/2006/main" noGrp="1"/>
          </p:cNvSpPr>
          <p:nvPr/>
        </p:nvSpPr>
        <p:spPr>
          <a:xfrm xmlns:a="http://schemas.openxmlformats.org/drawingml/2006/main">
            <a:off x="8134350" y="2828925"/>
            <a:ext cx="6724650" cy="3143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982ACA7-B909-4F79-A064-3D9C65DCC101}"/>
              </a:ext>
            </a:extLst>
          </p:cNvPr>
          <p:cNvSpPr>
            <a:spLocks xmlns:a="http://schemas.openxmlformats.org/drawingml/2006/main" noGrp="1"/>
          </p:cNvSpPr>
          <p:nvPr/>
        </p:nvSpPr>
        <p:spPr>
          <a:xfrm xmlns:a="http://schemas.openxmlformats.org/drawingml/2006/main">
            <a:off x="8362950" y="299085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Leading subscription plans</a:t>
            </a:r>
          </a:p>
        </p:txBody>
      </p:sp>
      <p:sp>
        <p:nvSpPr>
          <p:cNvPr id="35" name="">
            <a:extLst xmlns:a="http://schemas.openxmlformats.org/drawingml/2006/main">
              <a:ext uri="{FF2B5EF4-FFF2-40B4-BE49-F238E27FC236}">
                <a16:creationId xmlns:a16="http://schemas.microsoft.com/office/drawing/2014/main" id="{365A1627-C402-4967-883C-B3C75D4BB62D}"/>
              </a:ext>
            </a:extLst>
          </p:cNvPr>
          <p:cNvSpPr>
            <a:spLocks xmlns:a="http://schemas.openxmlformats.org/drawingml/2006/main" noGrp="1"/>
          </p:cNvSpPr>
          <p:nvPr/>
        </p:nvSpPr>
        <p:spPr>
          <a:xfrm xmlns:a="http://schemas.openxmlformats.org/drawingml/2006/main">
            <a:off x="8362950" y="3343275"/>
            <a:ext cx="626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Revenue rank from the source graphic</a:t>
            </a:r>
          </a:p>
        </p:txBody>
      </p:sp>
      <p:sp>
        <p:nvSpPr>
          <p:cNvPr id="36" name="">
            <a:extLst xmlns:a="http://schemas.openxmlformats.org/drawingml/2006/main">
              <a:ext uri="{FF2B5EF4-FFF2-40B4-BE49-F238E27FC236}">
                <a16:creationId xmlns:a16="http://schemas.microsoft.com/office/drawing/2014/main" id="{3ACA834E-6D55-401E-A4A9-0875FB7D7821}"/>
              </a:ext>
            </a:extLst>
          </p:cNvPr>
          <p:cNvSpPr>
            <a:spLocks xmlns:a="http://schemas.openxmlformats.org/drawingml/2006/main" noGrp="1"/>
          </p:cNvSpPr>
          <p:nvPr/>
        </p:nvSpPr>
        <p:spPr>
          <a:xfrm xmlns:a="http://schemas.openxmlformats.org/drawingml/2006/main">
            <a:off x="8391525" y="3705225"/>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67100"/>
                </a:solidFill>
                <a:latin typeface="Aptos"/>
                <a:ea typeface="Aptos"/>
                <a:cs typeface="Aptos"/>
              </a:defRPr>
            </a:pPr>
            <a:r>
              <a:rPr sz="1725" b="1">
                <a:solidFill>
                  <a:srgbClr val="967100"/>
                </a:solidFill>
                <a:latin typeface="Aptos"/>
                <a:ea typeface="Aptos"/>
                <a:cs typeface="Aptos"/>
              </a:rPr>
              <a:t>01</a:t>
            </a:r>
          </a:p>
        </p:txBody>
      </p:sp>
      <p:sp>
        <p:nvSpPr>
          <p:cNvPr id="37" name="">
            <a:extLst xmlns:a="http://schemas.openxmlformats.org/drawingml/2006/main">
              <a:ext uri="{FF2B5EF4-FFF2-40B4-BE49-F238E27FC236}">
                <a16:creationId xmlns:a16="http://schemas.microsoft.com/office/drawing/2014/main" id="{02238126-4653-4F6D-B455-814633BB3841}"/>
              </a:ext>
            </a:extLst>
          </p:cNvPr>
          <p:cNvSpPr>
            <a:spLocks xmlns:a="http://schemas.openxmlformats.org/drawingml/2006/main" noGrp="1"/>
          </p:cNvSpPr>
          <p:nvPr/>
        </p:nvSpPr>
        <p:spPr>
          <a:xfrm xmlns:a="http://schemas.openxmlformats.org/drawingml/2006/main">
            <a:off x="9020175" y="3705225"/>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191C"/>
                </a:solidFill>
                <a:latin typeface="Aptos"/>
                <a:ea typeface="Aptos"/>
                <a:cs typeface="Aptos"/>
              </a:defRPr>
            </a:pPr>
            <a:r>
              <a:rPr sz="1725" b="1">
                <a:solidFill>
                  <a:srgbClr val="17191C"/>
                </a:solidFill>
                <a:latin typeface="Aptos"/>
                <a:ea typeface="Aptos"/>
                <a:cs typeface="Aptos"/>
              </a:rPr>
              <a:t>1.5TB Yearly…</a:t>
            </a:r>
          </a:p>
        </p:txBody>
      </p:sp>
      <p:sp>
        <p:nvSpPr>
          <p:cNvPr id="38" name="">
            <a:extLst xmlns:a="http://schemas.openxmlformats.org/drawingml/2006/main">
              <a:ext uri="{FF2B5EF4-FFF2-40B4-BE49-F238E27FC236}">
                <a16:creationId xmlns:a16="http://schemas.microsoft.com/office/drawing/2014/main" id="{6603C0CF-64D1-439A-A20A-8EACAA9F4474}"/>
              </a:ext>
            </a:extLst>
          </p:cNvPr>
          <p:cNvSpPr>
            <a:spLocks xmlns:a="http://schemas.openxmlformats.org/drawingml/2006/main" noGrp="1"/>
          </p:cNvSpPr>
          <p:nvPr/>
        </p:nvSpPr>
        <p:spPr>
          <a:xfrm xmlns:a="http://schemas.openxmlformats.org/drawingml/2006/main">
            <a:off x="8391525" y="4076700"/>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67100"/>
                </a:solidFill>
                <a:latin typeface="Aptos"/>
                <a:ea typeface="Aptos"/>
                <a:cs typeface="Aptos"/>
              </a:defRPr>
            </a:pPr>
            <a:r>
              <a:rPr sz="1725" b="1">
                <a:solidFill>
                  <a:srgbClr val="967100"/>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53C70A67-4FAD-4871-83AD-A96FBF0BF11F}"/>
              </a:ext>
            </a:extLst>
          </p:cNvPr>
          <p:cNvSpPr>
            <a:spLocks xmlns:a="http://schemas.openxmlformats.org/drawingml/2006/main" noGrp="1"/>
          </p:cNvSpPr>
          <p:nvPr/>
        </p:nvSpPr>
        <p:spPr>
          <a:xfrm xmlns:a="http://schemas.openxmlformats.org/drawingml/2006/main">
            <a:off x="9020175" y="4076700"/>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C"/>
                </a:solidFill>
                <a:latin typeface="Aptos"/>
                <a:ea typeface="Aptos"/>
                <a:cs typeface="Aptos"/>
              </a:defRPr>
            </a:pPr>
            <a:r>
              <a:rPr sz="1725" b="0">
                <a:solidFill>
                  <a:srgbClr val="17191C"/>
                </a:solidFill>
                <a:latin typeface="Aptos"/>
                <a:ea typeface="Aptos"/>
                <a:cs typeface="Aptos"/>
              </a:rPr>
              <a:t>165GB Monthly…</a:t>
            </a:r>
          </a:p>
        </p:txBody>
      </p:sp>
      <p:sp>
        <p:nvSpPr>
          <p:cNvPr id="40" name="">
            <a:extLst xmlns:a="http://schemas.openxmlformats.org/drawingml/2006/main">
              <a:ext uri="{FF2B5EF4-FFF2-40B4-BE49-F238E27FC236}">
                <a16:creationId xmlns:a16="http://schemas.microsoft.com/office/drawing/2014/main" id="{6B34CDCF-3DCB-4575-9903-6D2108B96450}"/>
              </a:ext>
            </a:extLst>
          </p:cNvPr>
          <p:cNvSpPr>
            <a:spLocks xmlns:a="http://schemas.openxmlformats.org/drawingml/2006/main" noGrp="1"/>
          </p:cNvSpPr>
          <p:nvPr/>
        </p:nvSpPr>
        <p:spPr>
          <a:xfrm xmlns:a="http://schemas.openxmlformats.org/drawingml/2006/main">
            <a:off x="8391525" y="4448175"/>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67100"/>
                </a:solidFill>
                <a:latin typeface="Aptos"/>
                <a:ea typeface="Aptos"/>
                <a:cs typeface="Aptos"/>
              </a:defRPr>
            </a:pPr>
            <a:r>
              <a:rPr sz="1725" b="1">
                <a:solidFill>
                  <a:srgbClr val="967100"/>
                </a:solidFill>
                <a:latin typeface="Aptos"/>
                <a:ea typeface="Aptos"/>
                <a:cs typeface="Aptos"/>
              </a:rPr>
              <a:t>03</a:t>
            </a:r>
          </a:p>
        </p:txBody>
      </p:sp>
      <p:sp>
        <p:nvSpPr>
          <p:cNvPr id="41" name="">
            <a:extLst xmlns:a="http://schemas.openxmlformats.org/drawingml/2006/main">
              <a:ext uri="{FF2B5EF4-FFF2-40B4-BE49-F238E27FC236}">
                <a16:creationId xmlns:a16="http://schemas.microsoft.com/office/drawing/2014/main" id="{25E62CEF-EBC2-46C5-B25E-7D61AB322158}"/>
              </a:ext>
            </a:extLst>
          </p:cNvPr>
          <p:cNvSpPr>
            <a:spLocks xmlns:a="http://schemas.openxmlformats.org/drawingml/2006/main" noGrp="1"/>
          </p:cNvSpPr>
          <p:nvPr/>
        </p:nvSpPr>
        <p:spPr>
          <a:xfrm xmlns:a="http://schemas.openxmlformats.org/drawingml/2006/main">
            <a:off x="9020175" y="4448175"/>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C"/>
                </a:solidFill>
                <a:latin typeface="Aptos"/>
                <a:ea typeface="Aptos"/>
                <a:cs typeface="Aptos"/>
              </a:defRPr>
            </a:pPr>
            <a:r>
              <a:rPr sz="1725" b="0">
                <a:solidFill>
                  <a:srgbClr val="17191C"/>
                </a:solidFill>
                <a:latin typeface="Aptos"/>
                <a:ea typeface="Aptos"/>
                <a:cs typeface="Aptos"/>
              </a:rPr>
              <a:t>300GB FUP…</a:t>
            </a:r>
          </a:p>
        </p:txBody>
      </p:sp>
      <p:sp>
        <p:nvSpPr>
          <p:cNvPr id="42" name="">
            <a:extLst xmlns:a="http://schemas.openxmlformats.org/drawingml/2006/main">
              <a:ext uri="{FF2B5EF4-FFF2-40B4-BE49-F238E27FC236}">
                <a16:creationId xmlns:a16="http://schemas.microsoft.com/office/drawing/2014/main" id="{C4E4875C-943A-4D50-A61B-2724B40164B3}"/>
              </a:ext>
            </a:extLst>
          </p:cNvPr>
          <p:cNvSpPr>
            <a:spLocks xmlns:a="http://schemas.openxmlformats.org/drawingml/2006/main" noGrp="1"/>
          </p:cNvSpPr>
          <p:nvPr/>
        </p:nvSpPr>
        <p:spPr>
          <a:xfrm xmlns:a="http://schemas.openxmlformats.org/drawingml/2006/main">
            <a:off x="8391525" y="4819650"/>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67100"/>
                </a:solidFill>
                <a:latin typeface="Aptos"/>
                <a:ea typeface="Aptos"/>
                <a:cs typeface="Aptos"/>
              </a:defRPr>
            </a:pPr>
            <a:r>
              <a:rPr sz="1725" b="1">
                <a:solidFill>
                  <a:srgbClr val="967100"/>
                </a:solidFill>
                <a:latin typeface="Aptos"/>
                <a:ea typeface="Aptos"/>
                <a:cs typeface="Aptos"/>
              </a:rPr>
              <a:t>04</a:t>
            </a:r>
          </a:p>
        </p:txBody>
      </p:sp>
      <p:sp>
        <p:nvSpPr>
          <p:cNvPr id="43" name="">
            <a:extLst xmlns:a="http://schemas.openxmlformats.org/drawingml/2006/main">
              <a:ext uri="{FF2B5EF4-FFF2-40B4-BE49-F238E27FC236}">
                <a16:creationId xmlns:a16="http://schemas.microsoft.com/office/drawing/2014/main" id="{64CEBC5D-80A1-4484-94F9-7020094912B3}"/>
              </a:ext>
            </a:extLst>
          </p:cNvPr>
          <p:cNvSpPr>
            <a:spLocks xmlns:a="http://schemas.openxmlformats.org/drawingml/2006/main" noGrp="1"/>
          </p:cNvSpPr>
          <p:nvPr/>
        </p:nvSpPr>
        <p:spPr>
          <a:xfrm xmlns:a="http://schemas.openxmlformats.org/drawingml/2006/main">
            <a:off x="9020175" y="4819650"/>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C"/>
                </a:solidFill>
                <a:latin typeface="Aptos"/>
                <a:ea typeface="Aptos"/>
                <a:cs typeface="Aptos"/>
              </a:defRPr>
            </a:pPr>
            <a:r>
              <a:rPr sz="1725" b="0">
                <a:solidFill>
                  <a:srgbClr val="17191C"/>
                </a:solidFill>
                <a:latin typeface="Aptos"/>
                <a:ea typeface="Aptos"/>
                <a:cs typeface="Aptos"/>
              </a:rPr>
              <a:t>150GB FUP…</a:t>
            </a:r>
          </a:p>
        </p:txBody>
      </p:sp>
      <p:sp>
        <p:nvSpPr>
          <p:cNvPr id="44" name="">
            <a:extLst xmlns:a="http://schemas.openxmlformats.org/drawingml/2006/main">
              <a:ext uri="{FF2B5EF4-FFF2-40B4-BE49-F238E27FC236}">
                <a16:creationId xmlns:a16="http://schemas.microsoft.com/office/drawing/2014/main" id="{B16A4AB4-AE7E-4B17-B78E-9BCFCCF3D227}"/>
              </a:ext>
            </a:extLst>
          </p:cNvPr>
          <p:cNvSpPr>
            <a:spLocks xmlns:a="http://schemas.openxmlformats.org/drawingml/2006/main" noGrp="1"/>
          </p:cNvSpPr>
          <p:nvPr/>
        </p:nvSpPr>
        <p:spPr>
          <a:xfrm xmlns:a="http://schemas.openxmlformats.org/drawingml/2006/main">
            <a:off x="8391525" y="5191125"/>
            <a:ext cx="49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67100"/>
                </a:solidFill>
                <a:latin typeface="Aptos"/>
                <a:ea typeface="Aptos"/>
                <a:cs typeface="Aptos"/>
              </a:defRPr>
            </a:pPr>
            <a:r>
              <a:rPr sz="1725" b="1">
                <a:solidFill>
                  <a:srgbClr val="967100"/>
                </a:solidFill>
                <a:latin typeface="Aptos"/>
                <a:ea typeface="Aptos"/>
                <a:cs typeface="Aptos"/>
              </a:rPr>
              <a:t>05</a:t>
            </a:r>
          </a:p>
        </p:txBody>
      </p:sp>
      <p:sp>
        <p:nvSpPr>
          <p:cNvPr id="45" name="">
            <a:extLst xmlns:a="http://schemas.openxmlformats.org/drawingml/2006/main">
              <a:ext uri="{FF2B5EF4-FFF2-40B4-BE49-F238E27FC236}">
                <a16:creationId xmlns:a16="http://schemas.microsoft.com/office/drawing/2014/main" id="{8ABD5E5E-77F9-4703-A1D5-C531B53641FC}"/>
              </a:ext>
            </a:extLst>
          </p:cNvPr>
          <p:cNvSpPr>
            <a:spLocks xmlns:a="http://schemas.openxmlformats.org/drawingml/2006/main" noGrp="1"/>
          </p:cNvSpPr>
          <p:nvPr/>
        </p:nvSpPr>
        <p:spPr>
          <a:xfrm xmlns:a="http://schemas.openxmlformats.org/drawingml/2006/main">
            <a:off x="9020175" y="5191125"/>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C"/>
                </a:solidFill>
                <a:latin typeface="Aptos"/>
                <a:ea typeface="Aptos"/>
                <a:cs typeface="Aptos"/>
              </a:defRPr>
            </a:pPr>
            <a:r>
              <a:rPr sz="1725" b="0">
                <a:solidFill>
                  <a:srgbClr val="17191C"/>
                </a:solidFill>
                <a:latin typeface="Aptos"/>
                <a:ea typeface="Aptos"/>
                <a:cs typeface="Aptos"/>
              </a:rPr>
              <a:t>450GB 3-…</a:t>
            </a:r>
          </a:p>
        </p:txBody>
      </p:sp>
      <p:sp>
        <p:nvSpPr>
          <p:cNvPr id="46" name="">
            <a:extLst xmlns:a="http://schemas.openxmlformats.org/drawingml/2006/main">
              <a:ext uri="{FF2B5EF4-FFF2-40B4-BE49-F238E27FC236}">
                <a16:creationId xmlns:a16="http://schemas.microsoft.com/office/drawing/2014/main" id="{F64FDD4D-D535-464C-B15E-903799816767}"/>
              </a:ext>
            </a:extLst>
          </p:cNvPr>
          <p:cNvSpPr>
            <a:spLocks xmlns:a="http://schemas.openxmlformats.org/drawingml/2006/main" noGrp="1"/>
          </p:cNvSpPr>
          <p:nvPr/>
        </p:nvSpPr>
        <p:spPr>
          <a:xfrm xmlns:a="http://schemas.openxmlformats.org/drawingml/2006/main">
            <a:off x="8362950" y="5657850"/>
            <a:ext cx="62579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66E"/>
                </a:solidFill>
                <a:latin typeface="Aptos"/>
                <a:ea typeface="Aptos"/>
                <a:cs typeface="Aptos"/>
              </a:defRPr>
            </a:pPr>
            <a:r>
              <a:rPr sz="1125" b="0">
                <a:solidFill>
                  <a:srgbClr val="60666E"/>
                </a:solidFill>
                <a:latin typeface="Aptos"/>
                <a:ea typeface="Aptos"/>
                <a:cs typeface="Aptos"/>
              </a:rPr>
              <a:t>Names are abbreviated in the source; exact plan revenues are unavailable.</a:t>
            </a:r>
          </a:p>
        </p:txBody>
      </p:sp>
      <p:sp>
        <p:nvSpPr>
          <p:cNvPr id="47" name="">
            <a:extLst xmlns:a="http://schemas.openxmlformats.org/drawingml/2006/main">
              <a:ext uri="{FF2B5EF4-FFF2-40B4-BE49-F238E27FC236}">
                <a16:creationId xmlns:a16="http://schemas.microsoft.com/office/drawing/2014/main" id="{14C543B9-B150-4F0C-9886-3E7EAB401CB1}"/>
              </a:ext>
            </a:extLst>
          </p:cNvPr>
          <p:cNvSpPr>
            <a:spLocks xmlns:a="http://schemas.openxmlformats.org/drawingml/2006/main" noGrp="1"/>
          </p:cNvSpPr>
          <p:nvPr/>
        </p:nvSpPr>
        <p:spPr>
          <a:xfrm xmlns:a="http://schemas.openxmlformats.org/drawingml/2006/main">
            <a:off x="8134350" y="6200775"/>
            <a:ext cx="6724650" cy="25336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EC0400D-59CF-4669-B9DD-BF5F2B27885A}"/>
              </a:ext>
            </a:extLst>
          </p:cNvPr>
          <p:cNvSpPr>
            <a:spLocks xmlns:a="http://schemas.openxmlformats.org/drawingml/2006/main" noGrp="1"/>
          </p:cNvSpPr>
          <p:nvPr/>
        </p:nvSpPr>
        <p:spPr>
          <a:xfrm xmlns:a="http://schemas.openxmlformats.org/drawingml/2006/main">
            <a:off x="8362950" y="636270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191C"/>
                </a:solidFill>
                <a:latin typeface="Aptos"/>
                <a:ea typeface="Aptos"/>
                <a:cs typeface="Aptos"/>
              </a:defRPr>
            </a:pPr>
            <a:r>
              <a:rPr sz="1875" b="1">
                <a:solidFill>
                  <a:srgbClr val="17191C"/>
                </a:solidFill>
                <a:latin typeface="Aptos"/>
                <a:ea typeface="Aptos"/>
                <a:cs typeface="Aptos"/>
              </a:rPr>
              <a:t>How to interpret the segments</a:t>
            </a:r>
          </a:p>
        </p:txBody>
      </p:sp>
      <p:sp>
        <p:nvSpPr>
          <p:cNvPr id="49" name="">
            <a:extLst xmlns:a="http://schemas.openxmlformats.org/drawingml/2006/main">
              <a:ext uri="{FF2B5EF4-FFF2-40B4-BE49-F238E27FC236}">
                <a16:creationId xmlns:a16="http://schemas.microsoft.com/office/drawing/2014/main" id="{391BB576-6022-4A94-BEC0-03CFCBD8E88E}"/>
              </a:ext>
            </a:extLst>
          </p:cNvPr>
          <p:cNvSpPr>
            <a:spLocks xmlns:a="http://schemas.openxmlformats.org/drawingml/2006/main" noGrp="1"/>
          </p:cNvSpPr>
          <p:nvPr/>
        </p:nvSpPr>
        <p:spPr>
          <a:xfrm xmlns:a="http://schemas.openxmlformats.org/drawingml/2006/main">
            <a:off x="8362950" y="6715125"/>
            <a:ext cx="626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666E"/>
                </a:solidFill>
                <a:latin typeface="Aptos"/>
                <a:ea typeface="Aptos"/>
                <a:cs typeface="Aptos"/>
              </a:defRPr>
            </a:pPr>
            <a:r>
              <a:rPr sz="1275" b="0">
                <a:solidFill>
                  <a:srgbClr val="60666E"/>
                </a:solidFill>
                <a:latin typeface="Aptos"/>
                <a:ea typeface="Aptos"/>
                <a:cs typeface="Aptos"/>
              </a:rPr>
              <a:t>Compare counts separately from the likelihood of churn</a:t>
            </a:r>
          </a:p>
        </p:txBody>
      </p:sp>
      <p:sp>
        <p:nvSpPr>
          <p:cNvPr id="50" name="">
            <a:extLst xmlns:a="http://schemas.openxmlformats.org/drawingml/2006/main">
              <a:ext uri="{FF2B5EF4-FFF2-40B4-BE49-F238E27FC236}">
                <a16:creationId xmlns:a16="http://schemas.microsoft.com/office/drawing/2014/main" id="{7CA917C0-97DD-40EF-B349-0997E4FBE819}"/>
              </a:ext>
            </a:extLst>
          </p:cNvPr>
          <p:cNvSpPr>
            <a:spLocks xmlns:a="http://schemas.openxmlformats.org/drawingml/2006/main" noGrp="1"/>
          </p:cNvSpPr>
          <p:nvPr/>
        </p:nvSpPr>
        <p:spPr>
          <a:xfrm xmlns:a="http://schemas.openxmlformats.org/drawingml/2006/main">
            <a:off x="8362950" y="71056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191C"/>
                </a:solidFill>
                <a:latin typeface="Aptos"/>
                <a:ea typeface="Aptos"/>
                <a:cs typeface="Aptos"/>
              </a:defRPr>
            </a:pPr>
            <a:r>
              <a:rPr sz="1725" b="1">
                <a:solidFill>
                  <a:srgbClr val="17191C"/>
                </a:solidFill>
                <a:latin typeface="Aptos"/>
                <a:ea typeface="Aptos"/>
                <a:cs typeface="Aptos"/>
              </a:rPr>
              <a:t>Imo has the largest churn count shown.</a:t>
            </a:r>
          </a:p>
        </p:txBody>
      </p:sp>
      <p:sp>
        <p:nvSpPr>
          <p:cNvPr id="51" name="">
            <a:extLst xmlns:a="http://schemas.openxmlformats.org/drawingml/2006/main">
              <a:ext uri="{FF2B5EF4-FFF2-40B4-BE49-F238E27FC236}">
                <a16:creationId xmlns:a16="http://schemas.microsoft.com/office/drawing/2014/main" id="{A3EA8872-9152-4EB4-BFE4-D73BAC497B10}"/>
              </a:ext>
            </a:extLst>
          </p:cNvPr>
          <p:cNvSpPr>
            <a:spLocks xmlns:a="http://schemas.openxmlformats.org/drawingml/2006/main" noGrp="1"/>
          </p:cNvSpPr>
          <p:nvPr/>
        </p:nvSpPr>
        <p:spPr>
          <a:xfrm xmlns:a="http://schemas.openxmlformats.org/drawingml/2006/main">
            <a:off x="8362950" y="7543800"/>
            <a:ext cx="6210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66E"/>
                </a:solidFill>
                <a:latin typeface="Aptos"/>
                <a:ea typeface="Aptos"/>
                <a:cs typeface="Aptos"/>
              </a:defRPr>
            </a:pPr>
            <a:r>
              <a:rPr sz="1650" b="0">
                <a:solidFill>
                  <a:srgbClr val="60666E"/>
                </a:solidFill>
                <a:latin typeface="Aptos"/>
                <a:ea typeface="Aptos"/>
                <a:cs typeface="Aptos"/>
              </a:rPr>
              <a:t>Churn counts alone do not show which customer segments are most likely to leave. Segment totals are needed to compare rates.</a:t>
            </a:r>
          </a:p>
        </p:txBody>
      </p:sp>
    </p:spTree>
    <p:extLst>
      <p:ext uri="{BB962C8B-B14F-4D97-AF65-F5344CB8AC3E}">
        <p14:creationId xmlns:p14="http://schemas.microsoft.com/office/powerpoint/2010/main" val="12910707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2026-09-25T08:01:53.6150000Z</dcterms:created>
  <dcterms:modified xsi:type="dcterms:W3CDTF">2026-09-25T08:01:53.6150000Z</dcterms:modified>
</coreProperties>
</file>